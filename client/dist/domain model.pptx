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8"/>
  </p:notesMasterIdLst>
  <p:handoutMasterIdLst>
    <p:handoutMasterId r:id="rId49"/>
  </p:handoutMasterIdLst>
  <p:sldIdLst>
    <p:sldId id="349" r:id="rId5"/>
    <p:sldId id="350" r:id="rId6"/>
    <p:sldId id="352" r:id="rId7"/>
    <p:sldId id="353" r:id="rId8"/>
    <p:sldId id="355" r:id="rId9"/>
    <p:sldId id="367" r:id="rId10"/>
    <p:sldId id="359" r:id="rId11"/>
    <p:sldId id="360" r:id="rId12"/>
    <p:sldId id="361" r:id="rId13"/>
    <p:sldId id="362" r:id="rId14"/>
    <p:sldId id="363" r:id="rId15"/>
    <p:sldId id="365" r:id="rId16"/>
    <p:sldId id="307" r:id="rId17"/>
    <p:sldId id="308" r:id="rId18"/>
    <p:sldId id="278" r:id="rId19"/>
    <p:sldId id="309" r:id="rId20"/>
    <p:sldId id="263" r:id="rId21"/>
    <p:sldId id="310" r:id="rId22"/>
    <p:sldId id="325" r:id="rId23"/>
    <p:sldId id="311" r:id="rId24"/>
    <p:sldId id="316" r:id="rId25"/>
    <p:sldId id="318" r:id="rId26"/>
    <p:sldId id="319" r:id="rId27"/>
    <p:sldId id="326" r:id="rId28"/>
    <p:sldId id="337" r:id="rId29"/>
    <p:sldId id="338" r:id="rId30"/>
    <p:sldId id="339" r:id="rId31"/>
    <p:sldId id="329" r:id="rId32"/>
    <p:sldId id="331" r:id="rId33"/>
    <p:sldId id="330" r:id="rId34"/>
    <p:sldId id="332" r:id="rId35"/>
    <p:sldId id="333" r:id="rId36"/>
    <p:sldId id="334" r:id="rId37"/>
    <p:sldId id="335" r:id="rId38"/>
    <p:sldId id="336" r:id="rId39"/>
    <p:sldId id="356" r:id="rId40"/>
    <p:sldId id="344" r:id="rId41"/>
    <p:sldId id="357" r:id="rId42"/>
    <p:sldId id="358" r:id="rId43"/>
    <p:sldId id="340" r:id="rId44"/>
    <p:sldId id="342" r:id="rId45"/>
    <p:sldId id="343" r:id="rId46"/>
    <p:sldId id="34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4" d="100"/>
          <a:sy n="74" d="100"/>
        </p:scale>
        <p:origin x="1042"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4/14/2026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3599692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36</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366290-4595-5745-A50F-D5EC13BAC604}" type="slidenum">
              <a:rPr lang="en-US" noProof="0" smtClean="0"/>
              <a:t>42</a:t>
            </a:fld>
            <a:endParaRPr lang="en-US" noProof="0" dirty="0"/>
          </a:p>
        </p:txBody>
      </p:sp>
    </p:spTree>
    <p:extLst>
      <p:ext uri="{BB962C8B-B14F-4D97-AF65-F5344CB8AC3E}">
        <p14:creationId xmlns:p14="http://schemas.microsoft.com/office/powerpoint/2010/main" val="338112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366290-4595-5745-A50F-D5EC13BAC604}" type="slidenum">
              <a:rPr lang="en-US" noProof="0" smtClean="0"/>
              <a:t>43</a:t>
            </a:fld>
            <a:endParaRPr lang="en-US" noProof="0" dirty="0"/>
          </a:p>
        </p:txBody>
      </p:sp>
    </p:spTree>
    <p:extLst>
      <p:ext uri="{BB962C8B-B14F-4D97-AF65-F5344CB8AC3E}">
        <p14:creationId xmlns:p14="http://schemas.microsoft.com/office/powerpoint/2010/main" val="2169193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AF09A-EB30-BBD2-8C6E-D1EA020373C4}"/>
              </a:ext>
            </a:extLst>
          </p:cNvPr>
          <p:cNvSpPr>
            <a:spLocks noGrp="1"/>
          </p:cNvSpPr>
          <p:nvPr>
            <p:ph type="title"/>
          </p:nvPr>
        </p:nvSpPr>
        <p:spPr>
          <a:xfrm>
            <a:off x="74428" y="1"/>
            <a:ext cx="6481820" cy="6587066"/>
          </a:xfrm>
        </p:spPr>
        <p:txBody>
          <a:bodyPr/>
          <a:lstStyle/>
          <a:p>
            <a:pPr algn="ctr"/>
            <a:r>
              <a:rPr lang="en-US" b="1" dirty="0">
                <a:solidFill>
                  <a:schemeClr val="accent2">
                    <a:lumMod val="75000"/>
                  </a:schemeClr>
                </a:solidFill>
              </a:rPr>
              <a:t>Team Members:</a:t>
            </a:r>
            <a:br>
              <a:rPr lang="en-US" dirty="0"/>
            </a:br>
            <a:br>
              <a:rPr lang="en-US" dirty="0"/>
            </a:br>
            <a:r>
              <a:rPr lang="en-US" sz="4000" dirty="0"/>
              <a:t>Hadia Tariq</a:t>
            </a:r>
            <a:br>
              <a:rPr lang="en-US" sz="4000" dirty="0"/>
            </a:br>
            <a:r>
              <a:rPr lang="en-US" sz="4000" dirty="0"/>
              <a:t>Nawal Najam</a:t>
            </a:r>
            <a:br>
              <a:rPr lang="en-US" sz="4000" dirty="0"/>
            </a:br>
            <a:r>
              <a:rPr lang="en-US" sz="4000" dirty="0"/>
              <a:t>Wardah Najam</a:t>
            </a:r>
            <a:br>
              <a:rPr lang="en-US" sz="4000" dirty="0"/>
            </a:br>
            <a:r>
              <a:rPr lang="en-US" sz="4000" dirty="0"/>
              <a:t>Saria Kanwal</a:t>
            </a:r>
            <a:br>
              <a:rPr lang="en-US" sz="4000" dirty="0"/>
            </a:br>
            <a:r>
              <a:rPr lang="en-US" sz="4000" dirty="0"/>
              <a:t>Arooj Shahid</a:t>
            </a:r>
            <a:br>
              <a:rPr lang="en-US" sz="4000" dirty="0"/>
            </a:br>
            <a:r>
              <a:rPr lang="en-US" sz="4000" dirty="0"/>
              <a:t>Eman Amjad</a:t>
            </a:r>
            <a:endParaRPr lang="en-PK" dirty="0"/>
          </a:p>
        </p:txBody>
      </p:sp>
      <p:pic>
        <p:nvPicPr>
          <p:cNvPr id="1026" name="Picture 2" descr="Team Member Vector Art, Icons, and ...">
            <a:extLst>
              <a:ext uri="{FF2B5EF4-FFF2-40B4-BE49-F238E27FC236}">
                <a16:creationId xmlns:a16="http://schemas.microsoft.com/office/drawing/2014/main" id="{9CED955B-8CEA-BAA8-43B0-3E90669FE721}"/>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20623" r="20623"/>
          <a:stretch>
            <a:fillRect/>
          </a:stretch>
        </p:blipFill>
        <p:spPr bwMode="auto">
          <a:xfrm>
            <a:off x="6337005" y="0"/>
            <a:ext cx="5854995" cy="658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585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68A6-6A85-D9BD-23DC-478D2FCED510}"/>
              </a:ext>
            </a:extLst>
          </p:cNvPr>
          <p:cNvSpPr>
            <a:spLocks noGrp="1"/>
          </p:cNvSpPr>
          <p:nvPr>
            <p:ph type="ctrTitle"/>
          </p:nvPr>
        </p:nvSpPr>
        <p:spPr/>
        <p:txBody>
          <a:bodyPr/>
          <a:lstStyle/>
          <a:p>
            <a:r>
              <a:rPr lang="en-US" sz="5400" b="1" dirty="0"/>
              <a:t>DOMAIN MODEL</a:t>
            </a:r>
            <a:endParaRPr lang="en-PK" sz="5400" b="1" dirty="0"/>
          </a:p>
        </p:txBody>
      </p:sp>
    </p:spTree>
    <p:extLst>
      <p:ext uri="{BB962C8B-B14F-4D97-AF65-F5344CB8AC3E}">
        <p14:creationId xmlns:p14="http://schemas.microsoft.com/office/powerpoint/2010/main" val="332763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5445A-6CAC-7BE3-6447-CBC228297B8C}"/>
              </a:ext>
            </a:extLst>
          </p:cNvPr>
          <p:cNvSpPr>
            <a:spLocks noGrp="1"/>
          </p:cNvSpPr>
          <p:nvPr>
            <p:ph type="ctrTitle"/>
          </p:nvPr>
        </p:nvSpPr>
        <p:spPr>
          <a:xfrm>
            <a:off x="584791" y="0"/>
            <a:ext cx="8697432" cy="6858000"/>
          </a:xfrm>
        </p:spPr>
        <p:txBody>
          <a:bodyPr/>
          <a:lstStyle/>
          <a:p>
            <a:pPr algn="l"/>
            <a:r>
              <a:rPr lang="en-US" sz="2400" b="1" dirty="0">
                <a:latin typeface="Arial Black" panose="020B0A04020102020204" pitchFamily="34" charset="0"/>
                <a:cs typeface="Arial" panose="020B0604020202020204" pitchFamily="34" charset="0"/>
              </a:rPr>
              <a:t>What is a Domain?</a:t>
            </a:r>
            <a:br>
              <a:rPr lang="en-US" sz="2400" dirty="0">
                <a:latin typeface="Arial Black" panose="020B0A040201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domain is the area or field for which a system is developed.”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Domain = what the system is about</a:t>
            </a:r>
            <a:br>
              <a:rPr lang="en-US" sz="2000" dirty="0">
                <a:latin typeface="Arial" panose="020B0604020202020204" pitchFamily="34" charset="0"/>
                <a:cs typeface="Arial" panose="020B0604020202020204" pitchFamily="34" charset="0"/>
              </a:rPr>
            </a:br>
            <a:r>
              <a:rPr lang="en-US" sz="2000" b="1" dirty="0">
                <a:latin typeface="Arial Black" panose="020B0A04020102020204" pitchFamily="34" charset="0"/>
                <a:cs typeface="Arial" panose="020B0604020202020204" pitchFamily="34" charset="0"/>
              </a:rPr>
              <a:t>Examples: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Banking system → domain is banking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Hospital system → domain is healthcare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Shopping website → domain is online shopping</a:t>
            </a: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400" b="1" dirty="0">
                <a:latin typeface="Arial Black" panose="020B0A04020102020204" pitchFamily="34" charset="0"/>
                <a:cs typeface="Arial" panose="020B0604020202020204" pitchFamily="34" charset="0"/>
              </a:rPr>
              <a:t>What is a Model?</a:t>
            </a:r>
            <a:br>
              <a:rPr lang="en-US" sz="24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model is a simplified representation of a real-world system or concept.”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Model = a simple version of something real</a:t>
            </a:r>
            <a:br>
              <a:rPr lang="en-US" sz="2000" dirty="0">
                <a:latin typeface="Arial" panose="020B0604020202020204" pitchFamily="34" charset="0"/>
                <a:cs typeface="Arial" panose="020B0604020202020204" pitchFamily="34" charset="0"/>
              </a:rPr>
            </a:br>
            <a:r>
              <a:rPr lang="en-US" sz="2400" b="1" dirty="0">
                <a:latin typeface="Arial Black" panose="020B0A04020102020204" pitchFamily="34" charset="0"/>
                <a:cs typeface="Arial" panose="020B0604020202020204" pitchFamily="34" charset="0"/>
              </a:rPr>
              <a:t>Examples: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map → model of a city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diagram → model of a system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blueprint → model of a building</a:t>
            </a:r>
            <a:br>
              <a:rPr lang="en-US" sz="2000" dirty="0">
                <a:latin typeface="Arial" panose="020B0604020202020204" pitchFamily="34" charset="0"/>
                <a:cs typeface="Arial" panose="020B0604020202020204" pitchFamily="34" charset="0"/>
              </a:rPr>
            </a:br>
            <a:endParaRPr lang="en-PK"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1590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72DB4-A93B-7B1A-93D5-7B1A59568CDD}"/>
              </a:ext>
            </a:extLst>
          </p:cNvPr>
          <p:cNvSpPr>
            <a:spLocks noGrp="1"/>
          </p:cNvSpPr>
          <p:nvPr>
            <p:ph type="title"/>
          </p:nvPr>
        </p:nvSpPr>
        <p:spPr>
          <a:xfrm>
            <a:off x="808074" y="712381"/>
            <a:ext cx="9548036" cy="659219"/>
          </a:xfrm>
        </p:spPr>
        <p:txBody>
          <a:bodyPr/>
          <a:lstStyle/>
          <a:p>
            <a:r>
              <a:rPr lang="en-US" sz="2800" dirty="0">
                <a:latin typeface="Arial Black" panose="020B0A04020102020204" pitchFamily="34" charset="0"/>
              </a:rPr>
              <a:t>SIMPLE DEFINITION:</a:t>
            </a:r>
            <a:endParaRPr lang="en-PK" sz="2800" dirty="0">
              <a:latin typeface="Arial Black" panose="020B0A04020102020204" pitchFamily="34" charset="0"/>
            </a:endParaRPr>
          </a:p>
        </p:txBody>
      </p:sp>
      <p:sp>
        <p:nvSpPr>
          <p:cNvPr id="3" name="Content Placeholder 2">
            <a:extLst>
              <a:ext uri="{FF2B5EF4-FFF2-40B4-BE49-F238E27FC236}">
                <a16:creationId xmlns:a16="http://schemas.microsoft.com/office/drawing/2014/main" id="{7C58E822-3AD3-8290-D398-2CCE23FB8631}"/>
              </a:ext>
            </a:extLst>
          </p:cNvPr>
          <p:cNvSpPr>
            <a:spLocks noGrp="1"/>
          </p:cNvSpPr>
          <p:nvPr>
            <p:ph sz="quarter" idx="10"/>
          </p:nvPr>
        </p:nvSpPr>
        <p:spPr>
          <a:xfrm>
            <a:off x="914399" y="2039111"/>
            <a:ext cx="9548037" cy="4265995"/>
          </a:xfrm>
        </p:spPr>
        <p:txBody>
          <a:bodyPr>
            <a:normAutofit lnSpcReduction="10000"/>
          </a:bodyPr>
          <a:lstStyle/>
          <a:p>
            <a:r>
              <a:rPr lang="en-US" sz="2400" dirty="0">
                <a:latin typeface="Arial" panose="020B0604020202020204" pitchFamily="34" charset="0"/>
                <a:cs typeface="Arial" panose="020B0604020202020204" pitchFamily="34" charset="0"/>
              </a:rPr>
              <a:t>“A domain model is a conceptual representation of real-world entities, their attributes, and the relationships between them within a specific domain.”</a:t>
            </a:r>
          </a:p>
          <a:p>
            <a:pPr marL="0" indent="0">
              <a:buNone/>
            </a:pPr>
            <a:r>
              <a:rPr lang="en-US" sz="2400" dirty="0">
                <a:latin typeface="Arial" panose="020B0604020202020204" pitchFamily="34" charset="0"/>
                <a:cs typeface="Arial" panose="020B0604020202020204" pitchFamily="34" charset="0"/>
              </a:rPr>
              <a:t>                                                         OR</a:t>
            </a:r>
          </a:p>
          <a:p>
            <a:pPr marL="0" indent="0">
              <a:buNone/>
            </a:pPr>
            <a:r>
              <a:rPr lang="en-US" sz="2400" dirty="0">
                <a:latin typeface="Arial" panose="020B0604020202020204" pitchFamily="34" charset="0"/>
                <a:cs typeface="Arial" panose="020B0604020202020204" pitchFamily="34" charset="0"/>
              </a:rPr>
              <a:t>“A domain model helps us understand a system by showing its main objects and how they interact with each other.”</a:t>
            </a:r>
          </a:p>
          <a:p>
            <a:r>
              <a:rPr lang="en-US" sz="2400" dirty="0">
                <a:latin typeface="Arial" panose="020B0604020202020204" pitchFamily="34" charset="0"/>
                <a:cs typeface="Arial" panose="020B0604020202020204" pitchFamily="34" charset="0"/>
              </a:rPr>
              <a:t>It shows: </a:t>
            </a:r>
          </a:p>
          <a:p>
            <a:pPr lvl="1"/>
            <a:r>
              <a:rPr lang="en-US" sz="2000" dirty="0">
                <a:latin typeface="Arial" panose="020B0604020202020204" pitchFamily="34" charset="0"/>
                <a:cs typeface="Arial" panose="020B0604020202020204" pitchFamily="34" charset="0"/>
              </a:rPr>
              <a:t>Objects (like </a:t>
            </a:r>
            <a:r>
              <a:rPr lang="en-US" sz="2000" i="1" dirty="0">
                <a:latin typeface="Arial" panose="020B0604020202020204" pitchFamily="34" charset="0"/>
                <a:cs typeface="Arial" panose="020B0604020202020204" pitchFamily="34" charset="0"/>
              </a:rPr>
              <a:t>Sale, Payment</a:t>
            </a:r>
            <a:r>
              <a:rPr lang="en-US" sz="2000" dirty="0">
                <a:latin typeface="Arial" panose="020B0604020202020204" pitchFamily="34" charset="0"/>
                <a:cs typeface="Arial" panose="020B0604020202020204" pitchFamily="34" charset="0"/>
              </a:rPr>
              <a:t>) </a:t>
            </a:r>
          </a:p>
          <a:p>
            <a:pPr lvl="1"/>
            <a:r>
              <a:rPr lang="en-US" sz="2000" dirty="0">
                <a:latin typeface="Arial" panose="020B0604020202020204" pitchFamily="34" charset="0"/>
                <a:cs typeface="Arial" panose="020B0604020202020204" pitchFamily="34" charset="0"/>
              </a:rPr>
              <a:t>Relationships (how they connect) </a:t>
            </a:r>
          </a:p>
          <a:p>
            <a:pPr lvl="1"/>
            <a:r>
              <a:rPr lang="en-US" sz="2000" dirty="0">
                <a:latin typeface="Arial" panose="020B0604020202020204" pitchFamily="34" charset="0"/>
                <a:cs typeface="Arial" panose="020B0604020202020204" pitchFamily="34" charset="0"/>
              </a:rPr>
              <a:t>Attributes (data like date, amount) </a:t>
            </a:r>
          </a:p>
          <a:p>
            <a:r>
              <a:rPr lang="en-US" sz="2400" dirty="0">
                <a:latin typeface="Arial" panose="020B0604020202020204" pitchFamily="34" charset="0"/>
                <a:cs typeface="Arial" panose="020B0604020202020204" pitchFamily="34" charset="0"/>
              </a:rPr>
              <a:t>It is </a:t>
            </a:r>
            <a:r>
              <a:rPr lang="en-US" sz="2400" b="1" dirty="0">
                <a:latin typeface="Arial" panose="020B0604020202020204" pitchFamily="34" charset="0"/>
                <a:cs typeface="Arial" panose="020B0604020202020204" pitchFamily="34" charset="0"/>
              </a:rPr>
              <a:t>NOT about software code</a:t>
            </a:r>
            <a:r>
              <a:rPr lang="en-US" sz="2400" dirty="0">
                <a:latin typeface="Arial" panose="020B0604020202020204" pitchFamily="34" charset="0"/>
                <a:cs typeface="Arial" panose="020B0604020202020204" pitchFamily="34" charset="0"/>
              </a:rPr>
              <a:t>, but about </a:t>
            </a:r>
            <a:r>
              <a:rPr lang="en-US" sz="2400" b="1" dirty="0">
                <a:latin typeface="Arial" panose="020B0604020202020204" pitchFamily="34" charset="0"/>
                <a:cs typeface="Arial" panose="020B0604020202020204" pitchFamily="34" charset="0"/>
              </a:rPr>
              <a:t>real-world understanding</a:t>
            </a:r>
            <a:r>
              <a:rPr lang="en-US" sz="2400" dirty="0">
                <a:latin typeface="Arial" panose="020B0604020202020204" pitchFamily="34" charset="0"/>
                <a:cs typeface="Arial" panose="020B0604020202020204" pitchFamily="34" charset="0"/>
              </a:rPr>
              <a:t>. </a:t>
            </a:r>
          </a:p>
          <a:p>
            <a:pPr marL="0" indent="0">
              <a:buNone/>
            </a:pPr>
            <a:endParaRPr lang="en-PK" dirty="0"/>
          </a:p>
        </p:txBody>
      </p:sp>
      <p:sp>
        <p:nvSpPr>
          <p:cNvPr id="4" name="Slide Number Placeholder 3">
            <a:extLst>
              <a:ext uri="{FF2B5EF4-FFF2-40B4-BE49-F238E27FC236}">
                <a16:creationId xmlns:a16="http://schemas.microsoft.com/office/drawing/2014/main" id="{751E86F8-E114-EA4A-AD74-0A803D2ED9BA}"/>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211807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119BD-A4DF-A10D-BDFA-79C3E64ECD76}"/>
              </a:ext>
            </a:extLst>
          </p:cNvPr>
          <p:cNvSpPr>
            <a:spLocks noGrp="1"/>
          </p:cNvSpPr>
          <p:nvPr>
            <p:ph type="title"/>
          </p:nvPr>
        </p:nvSpPr>
        <p:spPr>
          <a:xfrm>
            <a:off x="372140" y="191386"/>
            <a:ext cx="10360152" cy="914400"/>
          </a:xfrm>
        </p:spPr>
        <p:txBody>
          <a:bodyPr/>
          <a:lstStyle/>
          <a:p>
            <a:r>
              <a:rPr lang="en-US" dirty="0">
                <a:latin typeface="Arial Black" panose="020B0A04020102020204" pitchFamily="34" charset="0"/>
              </a:rPr>
              <a:t>EXAMPLES</a:t>
            </a:r>
            <a:r>
              <a:rPr lang="en-US" dirty="0"/>
              <a:t>:</a:t>
            </a:r>
            <a:endParaRPr lang="en-PK" dirty="0"/>
          </a:p>
        </p:txBody>
      </p:sp>
      <p:sp>
        <p:nvSpPr>
          <p:cNvPr id="3" name="Content Placeholder 2">
            <a:extLst>
              <a:ext uri="{FF2B5EF4-FFF2-40B4-BE49-F238E27FC236}">
                <a16:creationId xmlns:a16="http://schemas.microsoft.com/office/drawing/2014/main" id="{4E86D126-8D3A-1B48-5F0F-719BAC26847E}"/>
              </a:ext>
            </a:extLst>
          </p:cNvPr>
          <p:cNvSpPr>
            <a:spLocks noGrp="1"/>
          </p:cNvSpPr>
          <p:nvPr>
            <p:ph sz="quarter" idx="13"/>
          </p:nvPr>
        </p:nvSpPr>
        <p:spPr>
          <a:xfrm>
            <a:off x="499730" y="1456659"/>
            <a:ext cx="6049926" cy="5401341"/>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pPr marL="0" indent="0">
              <a:buNone/>
            </a:pPr>
            <a:r>
              <a:rPr lang="en-US" b="1" dirty="0">
                <a:latin typeface="Arial" panose="020B0604020202020204" pitchFamily="34" charset="0"/>
                <a:cs typeface="Arial" panose="020B0604020202020204" pitchFamily="34" charset="0"/>
              </a:rPr>
              <a:t>1) Banking System</a:t>
            </a:r>
          </a:p>
          <a:p>
            <a:pPr marL="0" indent="0">
              <a:buNone/>
            </a:pPr>
            <a:r>
              <a:rPr lang="en-US" b="1" dirty="0">
                <a:latin typeface="Arial" panose="020B0604020202020204" pitchFamily="34" charset="0"/>
                <a:cs typeface="Arial" panose="020B0604020202020204" pitchFamily="34" charset="0"/>
              </a:rPr>
              <a:t>Domain:</a:t>
            </a:r>
            <a:r>
              <a:rPr lang="en-US" dirty="0">
                <a:latin typeface="Arial" panose="020B0604020202020204" pitchFamily="34" charset="0"/>
                <a:cs typeface="Arial" panose="020B0604020202020204" pitchFamily="34" charset="0"/>
              </a:rPr>
              <a:t> Banking </a:t>
            </a:r>
          </a:p>
          <a:p>
            <a:pPr marL="0" indent="0">
              <a:buNone/>
            </a:pPr>
            <a:r>
              <a:rPr lang="en-US" b="1" dirty="0">
                <a:latin typeface="Arial" panose="020B0604020202020204" pitchFamily="34" charset="0"/>
                <a:cs typeface="Arial" panose="020B0604020202020204" pitchFamily="34" charset="0"/>
              </a:rPr>
              <a:t>Model:</a:t>
            </a:r>
            <a:r>
              <a:rPr lang="en-US" dirty="0">
                <a:latin typeface="Arial" panose="020B0604020202020204" pitchFamily="34" charset="0"/>
                <a:cs typeface="Arial" panose="020B0604020202020204" pitchFamily="34" charset="0"/>
              </a:rPr>
              <a:t> Customer, Account, Transaction </a:t>
            </a:r>
          </a:p>
          <a:p>
            <a:pPr marL="0" indent="0">
              <a:buNone/>
            </a:pPr>
            <a:r>
              <a:rPr lang="en-US" b="1" dirty="0">
                <a:latin typeface="Arial" panose="020B0604020202020204" pitchFamily="34" charset="0"/>
                <a:cs typeface="Arial" panose="020B0604020202020204" pitchFamily="34" charset="0"/>
              </a:rPr>
              <a:t>Explanation: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Customer has accounts, and accounts record transactions. </a:t>
            </a:r>
          </a:p>
          <a:p>
            <a:pPr marL="0" indent="0">
              <a:buNone/>
            </a:pPr>
            <a:endParaRPr lang="en-US" dirty="0">
              <a:latin typeface="Arial" panose="020B0604020202020204" pitchFamily="34" charset="0"/>
              <a:cs typeface="Arial" panose="020B0604020202020204" pitchFamily="34" charset="0"/>
            </a:endParaRPr>
          </a:p>
          <a:p>
            <a:endParaRPr lang="en-PK"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3CDEE67A-1FA5-9A45-554F-A01A5F50CE38}"/>
              </a:ext>
            </a:extLst>
          </p:cNvPr>
          <p:cNvSpPr>
            <a:spLocks noGrp="1"/>
          </p:cNvSpPr>
          <p:nvPr>
            <p:ph sz="quarter" idx="12"/>
          </p:nvPr>
        </p:nvSpPr>
        <p:spPr>
          <a:xfrm>
            <a:off x="6804837" y="1117216"/>
            <a:ext cx="4742121" cy="5220586"/>
          </a:xfrm>
        </p:spPr>
        <p:txBody>
          <a:bodyPr>
            <a:normAutofit/>
          </a:bodyPr>
          <a:lstStyle/>
          <a:p>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2)Food Delivery System</a:t>
            </a:r>
          </a:p>
          <a:p>
            <a:r>
              <a:rPr lang="en-US" b="1" dirty="0">
                <a:latin typeface="Arial" panose="020B0604020202020204" pitchFamily="34" charset="0"/>
                <a:cs typeface="Arial" panose="020B0604020202020204" pitchFamily="34" charset="0"/>
              </a:rPr>
              <a:t>Domain:</a:t>
            </a:r>
            <a:r>
              <a:rPr lang="en-US" dirty="0">
                <a:latin typeface="Arial" panose="020B0604020202020204" pitchFamily="34" charset="0"/>
                <a:cs typeface="Arial" panose="020B0604020202020204" pitchFamily="34" charset="0"/>
              </a:rPr>
              <a:t> Food Delivery </a:t>
            </a:r>
          </a:p>
          <a:p>
            <a:r>
              <a:rPr lang="en-US" b="1" dirty="0">
                <a:latin typeface="Arial" panose="020B0604020202020204" pitchFamily="34" charset="0"/>
                <a:cs typeface="Arial" panose="020B0604020202020204" pitchFamily="34" charset="0"/>
              </a:rPr>
              <a:t>Model:</a:t>
            </a:r>
            <a:r>
              <a:rPr lang="en-US" dirty="0">
                <a:latin typeface="Arial" panose="020B0604020202020204" pitchFamily="34" charset="0"/>
                <a:cs typeface="Arial" panose="020B0604020202020204" pitchFamily="34" charset="0"/>
              </a:rPr>
              <a:t> Customer, Restaurant, Order </a:t>
            </a:r>
          </a:p>
          <a:p>
            <a:r>
              <a:rPr lang="en-US" b="1" dirty="0">
                <a:latin typeface="Arial" panose="020B0604020202020204" pitchFamily="34" charset="0"/>
                <a:cs typeface="Arial" panose="020B0604020202020204" pitchFamily="34" charset="0"/>
              </a:rPr>
              <a:t>Explanation: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Customers order food from restaurants</a:t>
            </a:r>
          </a:p>
          <a:p>
            <a:endParaRPr lang="en-PK"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2DD647C-4CEC-234E-6019-AE0CC23204EE}"/>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3813297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EB935-9686-BDC8-0510-76475D64BEBF}"/>
              </a:ext>
            </a:extLst>
          </p:cNvPr>
          <p:cNvSpPr>
            <a:spLocks noGrp="1"/>
          </p:cNvSpPr>
          <p:nvPr>
            <p:ph type="title"/>
          </p:nvPr>
        </p:nvSpPr>
        <p:spPr/>
        <p:txBody>
          <a:bodyPr/>
          <a:lstStyle/>
          <a:p>
            <a:r>
              <a:rPr lang="en-US" dirty="0">
                <a:latin typeface="Arial Black" panose="020B0A04020102020204" pitchFamily="34" charset="0"/>
              </a:rPr>
              <a:t>Sample Up Artifact Influence</a:t>
            </a:r>
            <a:endParaRPr lang="en-PK" dirty="0">
              <a:latin typeface="Arial Black" panose="020B0A04020102020204" pitchFamily="34" charset="0"/>
            </a:endParaRPr>
          </a:p>
        </p:txBody>
      </p:sp>
      <p:sp>
        <p:nvSpPr>
          <p:cNvPr id="3" name="Content Placeholder 2">
            <a:extLst>
              <a:ext uri="{FF2B5EF4-FFF2-40B4-BE49-F238E27FC236}">
                <a16:creationId xmlns:a16="http://schemas.microsoft.com/office/drawing/2014/main" id="{9B3A96D8-4198-8D77-ABC0-E2209E3D07B7}"/>
              </a:ext>
            </a:extLst>
          </p:cNvPr>
          <p:cNvSpPr>
            <a:spLocks noGrp="1"/>
          </p:cNvSpPr>
          <p:nvPr>
            <p:ph sz="quarter" idx="10"/>
          </p:nvPr>
        </p:nvSpPr>
        <p:spPr>
          <a:xfrm>
            <a:off x="914399" y="3923413"/>
            <a:ext cx="9888279" cy="999461"/>
          </a:xfrm>
        </p:spPr>
        <p:txBody>
          <a:bodyPr>
            <a:normAutofit/>
          </a:bodyPr>
          <a:lstStyle/>
          <a:p>
            <a:r>
              <a:rPr lang="en-US" sz="2400" dirty="0">
                <a:latin typeface="Arial" panose="020B0604020202020204" pitchFamily="34" charset="0"/>
                <a:cs typeface="Arial" panose="020B0604020202020204" pitchFamily="34" charset="0"/>
              </a:rPr>
              <a:t>This is showing </a:t>
            </a:r>
            <a:r>
              <a:rPr lang="en-US" sz="2400" b="1" dirty="0">
                <a:latin typeface="Arial" panose="020B0604020202020204" pitchFamily="34" charset="0"/>
                <a:cs typeface="Arial" panose="020B0604020202020204" pitchFamily="34" charset="0"/>
              </a:rPr>
              <a:t>how software development progresses in an iteration</a:t>
            </a:r>
            <a:r>
              <a:rPr lang="en-US" sz="2400" dirty="0">
                <a:latin typeface="Arial" panose="020B0604020202020204" pitchFamily="34" charset="0"/>
                <a:cs typeface="Arial" panose="020B0604020202020204" pitchFamily="34" charset="0"/>
              </a:rPr>
              <a:t> (specifically Iteration 1).</a:t>
            </a:r>
          </a:p>
        </p:txBody>
      </p:sp>
      <p:sp>
        <p:nvSpPr>
          <p:cNvPr id="4" name="Slide Number Placeholder 3">
            <a:extLst>
              <a:ext uri="{FF2B5EF4-FFF2-40B4-BE49-F238E27FC236}">
                <a16:creationId xmlns:a16="http://schemas.microsoft.com/office/drawing/2014/main" id="{40BDCD79-E768-C1BB-7E1A-E5FECEA01849}"/>
              </a:ext>
            </a:extLst>
          </p:cNvPr>
          <p:cNvSpPr>
            <a:spLocks noGrp="1"/>
          </p:cNvSpPr>
          <p:nvPr>
            <p:ph type="sldNum" sz="quarter" idx="4"/>
          </p:nvPr>
        </p:nvSpPr>
        <p:spPr/>
        <p:txBody>
          <a:bodyPr/>
          <a:lstStyle/>
          <a:p>
            <a:fld id="{58FB4751-880F-D840-AAA9-3A15815CC996}" type="slidenum">
              <a:rPr lang="en-US" smtClean="0"/>
              <a:pPr/>
              <a:t>6</a:t>
            </a:fld>
            <a:endParaRPr lang="en-US" dirty="0"/>
          </a:p>
        </p:txBody>
      </p:sp>
      <p:pic>
        <p:nvPicPr>
          <p:cNvPr id="9" name="Picture 8">
            <a:extLst>
              <a:ext uri="{FF2B5EF4-FFF2-40B4-BE49-F238E27FC236}">
                <a16:creationId xmlns:a16="http://schemas.microsoft.com/office/drawing/2014/main" id="{19B18120-870D-0478-99F1-62D58A8DB6C0}"/>
              </a:ext>
            </a:extLst>
          </p:cNvPr>
          <p:cNvPicPr>
            <a:picLocks noChangeAspect="1"/>
          </p:cNvPicPr>
          <p:nvPr/>
        </p:nvPicPr>
        <p:blipFill>
          <a:blip r:embed="rId2"/>
          <a:stretch>
            <a:fillRect/>
          </a:stretch>
        </p:blipFill>
        <p:spPr>
          <a:xfrm>
            <a:off x="914400" y="2126512"/>
            <a:ext cx="10005237" cy="1731173"/>
          </a:xfrm>
          <a:prstGeom prst="rect">
            <a:avLst/>
          </a:prstGeom>
        </p:spPr>
      </p:pic>
    </p:spTree>
    <p:extLst>
      <p:ext uri="{BB962C8B-B14F-4D97-AF65-F5344CB8AC3E}">
        <p14:creationId xmlns:p14="http://schemas.microsoft.com/office/powerpoint/2010/main" val="1666545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5B5B-A14A-43AA-C678-634EA0F10090}"/>
              </a:ext>
            </a:extLst>
          </p:cNvPr>
          <p:cNvSpPr>
            <a:spLocks noGrp="1"/>
          </p:cNvSpPr>
          <p:nvPr>
            <p:ph type="ctrTitle"/>
          </p:nvPr>
        </p:nvSpPr>
        <p:spPr>
          <a:xfrm>
            <a:off x="138223" y="435935"/>
            <a:ext cx="11137853" cy="6220045"/>
          </a:xfrm>
        </p:spPr>
        <p:txBody>
          <a:bodyPr/>
          <a:lstStyle/>
          <a:p>
            <a:pPr algn="l"/>
            <a:r>
              <a:rPr lang="en-US" sz="4000" b="1" dirty="0">
                <a:latin typeface="Arial Black" panose="020B0A04020102020204" pitchFamily="34" charset="0"/>
                <a:cs typeface="Arial" panose="020B0604020202020204" pitchFamily="34" charset="0"/>
              </a:rPr>
              <a:t> What Domain Model SHOWS:</a:t>
            </a: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Real-world objects (Sale, Payment) </a:t>
            </a: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Their relationships </a:t>
            </a: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Their basic data (date, price) </a:t>
            </a:r>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 </a:t>
            </a:r>
            <a:r>
              <a:rPr lang="en-US" sz="3600" dirty="0">
                <a:latin typeface="Arial Black" panose="020B0A04020102020204" pitchFamily="34" charset="0"/>
                <a:cs typeface="Arial" panose="020B0604020202020204" pitchFamily="34" charset="0"/>
              </a:rPr>
              <a:t>What Domain Model DOES NOT SHOW:</a:t>
            </a:r>
            <a:br>
              <a:rPr lang="en-US" sz="3600" dirty="0">
                <a:latin typeface="Arial Black" panose="020B0A040201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Software code </a:t>
            </a: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Methods/functions </a:t>
            </a: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Programming classes </a:t>
            </a:r>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endParaRPr lang="en-PK"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516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883C88-8CCE-CE53-54C3-C89CF0898979}"/>
              </a:ext>
            </a:extLst>
          </p:cNvPr>
          <p:cNvSpPr>
            <a:spLocks noGrp="1"/>
          </p:cNvSpPr>
          <p:nvPr>
            <p:ph type="body" sz="quarter" idx="13"/>
          </p:nvPr>
        </p:nvSpPr>
        <p:spPr>
          <a:xfrm>
            <a:off x="903767" y="3825875"/>
            <a:ext cx="9247119" cy="2883269"/>
          </a:xfrm>
        </p:spPr>
        <p:txBody>
          <a:bodyPr/>
          <a:lstStyle/>
          <a:p>
            <a:pPr algn="l"/>
            <a:r>
              <a:rPr lang="en-US" cap="none" dirty="0">
                <a:latin typeface="Arial" panose="020B0604020202020204" pitchFamily="34" charset="0"/>
                <a:cs typeface="Arial" panose="020B0604020202020204" pitchFamily="34" charset="0"/>
              </a:rPr>
              <a:t>Sale And Payment Are Objects </a:t>
            </a:r>
          </a:p>
          <a:p>
            <a:pPr algn="l"/>
            <a:r>
              <a:rPr lang="en-US" cap="none" dirty="0">
                <a:latin typeface="Arial" panose="020B0604020202020204" pitchFamily="34" charset="0"/>
                <a:cs typeface="Arial" panose="020B0604020202020204" pitchFamily="34" charset="0"/>
              </a:rPr>
              <a:t>A Sale Is Connected To Payment </a:t>
            </a:r>
          </a:p>
          <a:p>
            <a:pPr algn="l"/>
            <a:r>
              <a:rPr lang="en-US" cap="none" dirty="0">
                <a:latin typeface="Arial" panose="020B0604020202020204" pitchFamily="34" charset="0"/>
                <a:cs typeface="Arial" panose="020B0604020202020204" pitchFamily="34" charset="0"/>
              </a:rPr>
              <a:t>Sale Has Date &amp; Time </a:t>
            </a:r>
          </a:p>
          <a:p>
            <a:pPr algn="l"/>
            <a:r>
              <a:rPr lang="en-US" cap="none" dirty="0">
                <a:latin typeface="Arial" panose="020B0604020202020204" pitchFamily="34" charset="0"/>
                <a:cs typeface="Arial" panose="020B0604020202020204" pitchFamily="34" charset="0"/>
              </a:rPr>
              <a:t>Payment Has Amount </a:t>
            </a:r>
          </a:p>
          <a:p>
            <a:pPr algn="l"/>
            <a:r>
              <a:rPr lang="en-US" cap="none" dirty="0">
                <a:latin typeface="Arial" panose="020B0604020202020204" pitchFamily="34" charset="0"/>
                <a:cs typeface="Arial" panose="020B0604020202020204" pitchFamily="34" charset="0"/>
              </a:rPr>
              <a:t>This Is A Domain Model Diagram</a:t>
            </a:r>
          </a:p>
          <a:p>
            <a:endParaRPr lang="en-PK" dirty="0"/>
          </a:p>
        </p:txBody>
      </p:sp>
      <p:pic>
        <p:nvPicPr>
          <p:cNvPr id="5" name="Picture 4">
            <a:extLst>
              <a:ext uri="{FF2B5EF4-FFF2-40B4-BE49-F238E27FC236}">
                <a16:creationId xmlns:a16="http://schemas.microsoft.com/office/drawing/2014/main" id="{B17A3074-D238-C14A-7A23-E68ADA2F2A2C}"/>
              </a:ext>
            </a:extLst>
          </p:cNvPr>
          <p:cNvPicPr>
            <a:picLocks noChangeAspect="1"/>
          </p:cNvPicPr>
          <p:nvPr/>
        </p:nvPicPr>
        <p:blipFill>
          <a:blip r:embed="rId2"/>
          <a:stretch>
            <a:fillRect/>
          </a:stretch>
        </p:blipFill>
        <p:spPr>
          <a:xfrm>
            <a:off x="903767" y="387349"/>
            <a:ext cx="10526233" cy="3259617"/>
          </a:xfrm>
          <a:prstGeom prst="rect">
            <a:avLst/>
          </a:prstGeom>
        </p:spPr>
      </p:pic>
    </p:spTree>
    <p:extLst>
      <p:ext uri="{BB962C8B-B14F-4D97-AF65-F5344CB8AC3E}">
        <p14:creationId xmlns:p14="http://schemas.microsoft.com/office/powerpoint/2010/main" val="1923477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56FEF-185C-453C-E989-F702C0369FBE}"/>
              </a:ext>
            </a:extLst>
          </p:cNvPr>
          <p:cNvSpPr>
            <a:spLocks noGrp="1"/>
          </p:cNvSpPr>
          <p:nvPr>
            <p:ph type="title"/>
          </p:nvPr>
        </p:nvSpPr>
        <p:spPr>
          <a:xfrm>
            <a:off x="914400" y="340243"/>
            <a:ext cx="7534656" cy="1446028"/>
          </a:xfrm>
        </p:spPr>
        <p:txBody>
          <a:bodyPr/>
          <a:lstStyle/>
          <a:p>
            <a:r>
              <a:rPr lang="en-US" b="1" dirty="0"/>
              <a:t>Why We Use Domain Model?</a:t>
            </a:r>
            <a:br>
              <a:rPr lang="en-US" b="1" dirty="0"/>
            </a:br>
            <a:r>
              <a:rPr lang="en-US" b="1" dirty="0"/>
              <a:t> </a:t>
            </a:r>
            <a:endParaRPr lang="en-PK" dirty="0"/>
          </a:p>
        </p:txBody>
      </p:sp>
      <p:sp>
        <p:nvSpPr>
          <p:cNvPr id="4" name="Slide Number Placeholder 3">
            <a:extLst>
              <a:ext uri="{FF2B5EF4-FFF2-40B4-BE49-F238E27FC236}">
                <a16:creationId xmlns:a16="http://schemas.microsoft.com/office/drawing/2014/main" id="{C68B97F9-658C-4B0D-0DFD-6783E7B37403}"/>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6" name="TextBox 5">
            <a:extLst>
              <a:ext uri="{FF2B5EF4-FFF2-40B4-BE49-F238E27FC236}">
                <a16:creationId xmlns:a16="http://schemas.microsoft.com/office/drawing/2014/main" id="{BA1DFD53-8F8F-0A4E-A0DE-D50B17800810}"/>
              </a:ext>
            </a:extLst>
          </p:cNvPr>
          <p:cNvSpPr txBox="1"/>
          <p:nvPr/>
        </p:nvSpPr>
        <p:spPr>
          <a:xfrm>
            <a:off x="914400" y="1786271"/>
            <a:ext cx="8963247" cy="3046988"/>
          </a:xfrm>
          <a:prstGeom prst="rect">
            <a:avLst/>
          </a:prstGeom>
          <a:noFill/>
        </p:spPr>
        <p:txBody>
          <a:bodyPr wrap="square">
            <a:spAutoFit/>
          </a:bodyPr>
          <a:lstStyle/>
          <a:p>
            <a:pPr>
              <a:buFont typeface="Arial" panose="020B0604020202020204" pitchFamily="34" charset="0"/>
              <a:buChar char="•"/>
            </a:pPr>
            <a:r>
              <a:rPr lang="en-US" sz="3200" dirty="0">
                <a:latin typeface="Arial" panose="020B0604020202020204" pitchFamily="34" charset="0"/>
                <a:cs typeface="Arial" panose="020B0604020202020204" pitchFamily="34" charset="0"/>
              </a:rPr>
              <a:t>Helps us understand the system </a:t>
            </a:r>
          </a:p>
          <a:p>
            <a:pPr>
              <a:buFont typeface="Arial" panose="020B0604020202020204" pitchFamily="34" charset="0"/>
              <a:buChar char="•"/>
            </a:pPr>
            <a:r>
              <a:rPr lang="en-US" sz="3200" dirty="0">
                <a:latin typeface="Arial" panose="020B0604020202020204" pitchFamily="34" charset="0"/>
                <a:cs typeface="Arial" panose="020B0604020202020204" pitchFamily="34" charset="0"/>
              </a:rPr>
              <a:t>Improves communication </a:t>
            </a:r>
          </a:p>
          <a:p>
            <a:pPr>
              <a:buFont typeface="Arial" panose="020B0604020202020204" pitchFamily="34" charset="0"/>
              <a:buChar char="•"/>
            </a:pPr>
            <a:r>
              <a:rPr lang="en-US" sz="3200" dirty="0">
                <a:latin typeface="Arial" panose="020B0604020202020204" pitchFamily="34" charset="0"/>
                <a:cs typeface="Arial" panose="020B0604020202020204" pitchFamily="34" charset="0"/>
              </a:rPr>
              <a:t>Makes software design easier later </a:t>
            </a:r>
          </a:p>
          <a:p>
            <a:pPr>
              <a:buFont typeface="Arial" panose="020B0604020202020204" pitchFamily="34" charset="0"/>
              <a:buChar char="•"/>
            </a:pPr>
            <a:r>
              <a:rPr lang="en-US" sz="3200" dirty="0">
                <a:latin typeface="Arial" panose="020B0604020202020204" pitchFamily="34" charset="0"/>
                <a:cs typeface="Arial" panose="020B0604020202020204" pitchFamily="34" charset="0"/>
              </a:rPr>
              <a:t>Keeps real-world and software similar </a:t>
            </a:r>
          </a:p>
          <a:p>
            <a:pPr>
              <a:buNone/>
            </a:pPr>
            <a:r>
              <a:rPr lang="en-US" sz="3200" dirty="0">
                <a:latin typeface="Arial" panose="020B0604020202020204" pitchFamily="34" charset="0"/>
                <a:cs typeface="Arial" panose="020B0604020202020204" pitchFamily="34" charset="0"/>
              </a:rPr>
              <a:t> This reduces confusion (called low representational gap)</a:t>
            </a:r>
          </a:p>
        </p:txBody>
      </p:sp>
    </p:spTree>
    <p:extLst>
      <p:ext uri="{BB962C8B-B14F-4D97-AF65-F5344CB8AC3E}">
        <p14:creationId xmlns:p14="http://schemas.microsoft.com/office/powerpoint/2010/main" val="463840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1B5E6-43C4-BDF8-3DDE-BC5638452016}"/>
              </a:ext>
            </a:extLst>
          </p:cNvPr>
          <p:cNvSpPr>
            <a:spLocks noGrp="1"/>
          </p:cNvSpPr>
          <p:nvPr>
            <p:ph type="title"/>
          </p:nvPr>
        </p:nvSpPr>
        <p:spPr>
          <a:xfrm>
            <a:off x="914399" y="914400"/>
            <a:ext cx="8325293" cy="914400"/>
          </a:xfrm>
        </p:spPr>
        <p:txBody>
          <a:bodyPr/>
          <a:lstStyle/>
          <a:p>
            <a:r>
              <a:rPr lang="en-US" b="1" dirty="0">
                <a:latin typeface="Arial Black" panose="020B0A04020102020204" pitchFamily="34" charset="0"/>
              </a:rPr>
              <a:t>Why called a domain model a visual dictionary?</a:t>
            </a:r>
            <a:endParaRPr lang="en-PK" b="1" dirty="0">
              <a:latin typeface="Arial Black" panose="020B0A04020102020204" pitchFamily="34" charset="0"/>
            </a:endParaRPr>
          </a:p>
        </p:txBody>
      </p:sp>
      <p:sp>
        <p:nvSpPr>
          <p:cNvPr id="4" name="Slide Number Placeholder 3">
            <a:extLst>
              <a:ext uri="{FF2B5EF4-FFF2-40B4-BE49-F238E27FC236}">
                <a16:creationId xmlns:a16="http://schemas.microsoft.com/office/drawing/2014/main" id="{862F13E5-07C9-81C5-424B-3DCFC1D58AF9}"/>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
        <p:nvSpPr>
          <p:cNvPr id="6" name="TextBox 5">
            <a:extLst>
              <a:ext uri="{FF2B5EF4-FFF2-40B4-BE49-F238E27FC236}">
                <a16:creationId xmlns:a16="http://schemas.microsoft.com/office/drawing/2014/main" id="{297E0548-C23B-89A1-7818-EC632DC9D668}"/>
              </a:ext>
            </a:extLst>
          </p:cNvPr>
          <p:cNvSpPr txBox="1"/>
          <p:nvPr/>
        </p:nvSpPr>
        <p:spPr>
          <a:xfrm>
            <a:off x="914399" y="1947207"/>
            <a:ext cx="9122735" cy="1200329"/>
          </a:xfrm>
          <a:prstGeom prst="rect">
            <a:avLst/>
          </a:prstGeom>
          <a:noFill/>
        </p:spPr>
        <p:txBody>
          <a:bodyPr wrap="square">
            <a:spAutoFit/>
          </a:bodyPr>
          <a:lstStyle/>
          <a:p>
            <a:pPr>
              <a:buNone/>
            </a:pPr>
            <a:r>
              <a:rPr lang="en-US" sz="2000" dirty="0">
                <a:latin typeface="Arial" panose="020B0604020202020204" pitchFamily="34" charset="0"/>
                <a:cs typeface="Arial" panose="020B0604020202020204" pitchFamily="34" charset="0"/>
              </a:rPr>
              <a:t>A </a:t>
            </a:r>
            <a:r>
              <a:rPr lang="en-US" sz="2400" dirty="0">
                <a:latin typeface="Arial" panose="020B0604020202020204" pitchFamily="34" charset="0"/>
                <a:cs typeface="Arial" panose="020B0604020202020204" pitchFamily="34" charset="0"/>
              </a:rPr>
              <a:t>Domain Model is called a “visual dictionary” because it shows the meaning of terms and their relationships using pictures instead of only words.</a:t>
            </a:r>
          </a:p>
        </p:txBody>
      </p:sp>
      <p:sp>
        <p:nvSpPr>
          <p:cNvPr id="8" name="TextBox 7">
            <a:extLst>
              <a:ext uri="{FF2B5EF4-FFF2-40B4-BE49-F238E27FC236}">
                <a16:creationId xmlns:a16="http://schemas.microsoft.com/office/drawing/2014/main" id="{4567F325-93D3-F27D-848F-81C71416A781}"/>
              </a:ext>
            </a:extLst>
          </p:cNvPr>
          <p:cNvSpPr txBox="1"/>
          <p:nvPr/>
        </p:nvSpPr>
        <p:spPr>
          <a:xfrm>
            <a:off x="914399" y="3265944"/>
            <a:ext cx="7017489" cy="2677656"/>
          </a:xfrm>
          <a:prstGeom prst="rect">
            <a:avLst/>
          </a:prstGeom>
          <a:noFill/>
        </p:spPr>
        <p:txBody>
          <a:bodyPr wrap="square">
            <a:spAutoFit/>
          </a:bodyPr>
          <a:lstStyle/>
          <a:p>
            <a:pPr>
              <a:buNone/>
            </a:pPr>
            <a:r>
              <a:rPr lang="en-US" sz="2400" dirty="0">
                <a:latin typeface="Arial" panose="020B0604020202020204" pitchFamily="34" charset="0"/>
                <a:cs typeface="Arial" panose="020B0604020202020204" pitchFamily="34" charset="0"/>
              </a:rPr>
              <a:t>A </a:t>
            </a:r>
            <a:r>
              <a:rPr lang="en-US" sz="2400" b="1" dirty="0">
                <a:latin typeface="Arial" panose="020B0604020202020204" pitchFamily="34" charset="0"/>
                <a:cs typeface="Arial" panose="020B0604020202020204" pitchFamily="34" charset="0"/>
              </a:rPr>
              <a:t>normal dictionary</a:t>
            </a:r>
            <a:r>
              <a:rPr lang="en-US" sz="24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Gives meanings of words in </a:t>
            </a:r>
            <a:r>
              <a:rPr lang="en-US" sz="2400" b="1" dirty="0">
                <a:latin typeface="Arial" panose="020B0604020202020204" pitchFamily="34" charset="0"/>
                <a:cs typeface="Arial" panose="020B0604020202020204" pitchFamily="34" charset="0"/>
              </a:rPr>
              <a:t>text</a:t>
            </a:r>
            <a:r>
              <a:rPr lang="en-US" sz="2400" dirty="0">
                <a:latin typeface="Arial" panose="020B0604020202020204" pitchFamily="34" charset="0"/>
                <a:cs typeface="Arial" panose="020B0604020202020204" pitchFamily="34" charset="0"/>
              </a:rPr>
              <a:t>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Example:</a:t>
            </a:r>
            <a:br>
              <a:rPr lang="en-US" sz="2400" dirty="0">
                <a:latin typeface="Arial" panose="020B0604020202020204" pitchFamily="34" charset="0"/>
                <a:cs typeface="Arial" panose="020B0604020202020204" pitchFamily="34" charset="0"/>
              </a:rPr>
            </a:br>
            <a:r>
              <a:rPr lang="en-US" sz="2400" i="1" dirty="0">
                <a:latin typeface="Arial" panose="020B0604020202020204" pitchFamily="34" charset="0"/>
                <a:cs typeface="Arial" panose="020B0604020202020204" pitchFamily="34" charset="0"/>
              </a:rPr>
              <a:t>Sale = a transaction where goods are sold</a:t>
            </a:r>
            <a:r>
              <a:rPr lang="en-US" sz="2400" dirty="0">
                <a:latin typeface="Arial" panose="020B0604020202020204" pitchFamily="34" charset="0"/>
                <a:cs typeface="Arial" panose="020B0604020202020204" pitchFamily="34" charset="0"/>
              </a:rPr>
              <a:t> </a:t>
            </a:r>
          </a:p>
          <a:p>
            <a:pPr>
              <a:buNone/>
            </a:pPr>
            <a:r>
              <a:rPr lang="en-US" sz="2400" dirty="0">
                <a:latin typeface="Arial" panose="020B0604020202020204" pitchFamily="34" charset="0"/>
                <a:cs typeface="Arial" panose="020B0604020202020204" pitchFamily="34" charset="0"/>
              </a:rPr>
              <a:t>A </a:t>
            </a:r>
            <a:r>
              <a:rPr lang="en-US" sz="2400" b="1" dirty="0">
                <a:latin typeface="Arial" panose="020B0604020202020204" pitchFamily="34" charset="0"/>
                <a:cs typeface="Arial" panose="020B0604020202020204" pitchFamily="34" charset="0"/>
              </a:rPr>
              <a:t>Domain Model (visual dictionary)</a:t>
            </a:r>
            <a:r>
              <a:rPr lang="en-US" sz="24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Shows meanings using </a:t>
            </a:r>
            <a:r>
              <a:rPr lang="en-US" sz="2400" b="1" dirty="0">
                <a:latin typeface="Arial" panose="020B0604020202020204" pitchFamily="34" charset="0"/>
                <a:cs typeface="Arial" panose="020B0604020202020204" pitchFamily="34" charset="0"/>
              </a:rPr>
              <a:t>diagrams</a:t>
            </a:r>
            <a:r>
              <a:rPr lang="en-US" sz="2400" dirty="0">
                <a:latin typeface="Arial" panose="020B0604020202020204" pitchFamily="34" charset="0"/>
                <a:cs typeface="Arial" panose="020B0604020202020204" pitchFamily="34" charset="0"/>
              </a:rPr>
              <a:t>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Shows </a:t>
            </a:r>
            <a:r>
              <a:rPr lang="en-US" sz="2400" b="1" dirty="0">
                <a:latin typeface="Arial" panose="020B0604020202020204" pitchFamily="34" charset="0"/>
                <a:cs typeface="Arial" panose="020B0604020202020204" pitchFamily="34" charset="0"/>
              </a:rPr>
              <a:t>how things are connected</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6083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2E9CE-F7A6-DFA1-6D60-C75F4881B864}"/>
              </a:ext>
            </a:extLst>
          </p:cNvPr>
          <p:cNvSpPr>
            <a:spLocks noGrp="1"/>
          </p:cNvSpPr>
          <p:nvPr>
            <p:ph type="ctrTitle"/>
          </p:nvPr>
        </p:nvSpPr>
        <p:spPr>
          <a:xfrm>
            <a:off x="628845" y="191386"/>
            <a:ext cx="10360152" cy="1105787"/>
          </a:xfrm>
        </p:spPr>
        <p:txBody>
          <a:bodyPr/>
          <a:lstStyle/>
          <a:p>
            <a:r>
              <a:rPr lang="en-US" sz="3200" dirty="0">
                <a:latin typeface="Arial Black" panose="020B0A04020102020204" pitchFamily="34" charset="0"/>
              </a:rPr>
              <a:t>Domain model does not shows software artifacts and classes</a:t>
            </a:r>
            <a:endParaRPr lang="en-PK" sz="3200" dirty="0">
              <a:latin typeface="Arial Black" panose="020B0A04020102020204" pitchFamily="34" charset="0"/>
            </a:endParaRPr>
          </a:p>
        </p:txBody>
      </p:sp>
      <p:pic>
        <p:nvPicPr>
          <p:cNvPr id="4" name="Picture 3">
            <a:extLst>
              <a:ext uri="{FF2B5EF4-FFF2-40B4-BE49-F238E27FC236}">
                <a16:creationId xmlns:a16="http://schemas.microsoft.com/office/drawing/2014/main" id="{8D235A90-D07B-BCB8-BB74-EB8F3BD5EE19}"/>
              </a:ext>
            </a:extLst>
          </p:cNvPr>
          <p:cNvPicPr>
            <a:picLocks noChangeAspect="1"/>
          </p:cNvPicPr>
          <p:nvPr/>
        </p:nvPicPr>
        <p:blipFill>
          <a:blip r:embed="rId2"/>
          <a:stretch>
            <a:fillRect/>
          </a:stretch>
        </p:blipFill>
        <p:spPr>
          <a:xfrm>
            <a:off x="915924" y="1467294"/>
            <a:ext cx="10360152" cy="5029200"/>
          </a:xfrm>
          <a:prstGeom prst="rect">
            <a:avLst/>
          </a:prstGeom>
        </p:spPr>
      </p:pic>
    </p:spTree>
    <p:extLst>
      <p:ext uri="{BB962C8B-B14F-4D97-AF65-F5344CB8AC3E}">
        <p14:creationId xmlns:p14="http://schemas.microsoft.com/office/powerpoint/2010/main" val="3774315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F16B-12EF-93CB-8CDE-6C8DBC08F2C1}"/>
              </a:ext>
            </a:extLst>
          </p:cNvPr>
          <p:cNvSpPr>
            <a:spLocks noGrp="1"/>
          </p:cNvSpPr>
          <p:nvPr>
            <p:ph type="ctrTitle"/>
          </p:nvPr>
        </p:nvSpPr>
        <p:spPr>
          <a:xfrm>
            <a:off x="-1" y="127590"/>
            <a:ext cx="12067953" cy="1052624"/>
          </a:xfrm>
        </p:spPr>
        <p:txBody>
          <a:bodyPr/>
          <a:lstStyle/>
          <a:p>
            <a:r>
              <a:rPr lang="en-US" sz="4000" dirty="0">
                <a:latin typeface="Arial Black" panose="020B0A04020102020204" pitchFamily="34" charset="0"/>
              </a:rPr>
              <a:t>Partial Domain Model A Visual Dictionary</a:t>
            </a:r>
            <a:endParaRPr lang="en-PK" sz="4000" dirty="0">
              <a:latin typeface="Arial Black" panose="020B0A04020102020204" pitchFamily="34" charset="0"/>
            </a:endParaRPr>
          </a:p>
        </p:txBody>
      </p:sp>
      <p:pic>
        <p:nvPicPr>
          <p:cNvPr id="3" name="Picture 2">
            <a:extLst>
              <a:ext uri="{FF2B5EF4-FFF2-40B4-BE49-F238E27FC236}">
                <a16:creationId xmlns:a16="http://schemas.microsoft.com/office/drawing/2014/main" id="{F4138357-2225-A8DC-313D-20AD616E65FE}"/>
              </a:ext>
            </a:extLst>
          </p:cNvPr>
          <p:cNvPicPr>
            <a:picLocks noChangeAspect="1"/>
          </p:cNvPicPr>
          <p:nvPr/>
        </p:nvPicPr>
        <p:blipFill>
          <a:blip r:embed="rId2"/>
          <a:stretch>
            <a:fillRect/>
          </a:stretch>
        </p:blipFill>
        <p:spPr>
          <a:xfrm>
            <a:off x="1" y="1258623"/>
            <a:ext cx="12191999" cy="5705702"/>
          </a:xfrm>
          <a:prstGeom prst="rect">
            <a:avLst/>
          </a:prstGeom>
        </p:spPr>
      </p:pic>
    </p:spTree>
    <p:extLst>
      <p:ext uri="{BB962C8B-B14F-4D97-AF65-F5344CB8AC3E}">
        <p14:creationId xmlns:p14="http://schemas.microsoft.com/office/powerpoint/2010/main" val="416327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146051" y="1641764"/>
            <a:ext cx="4454235" cy="1236518"/>
          </a:xfrm>
        </p:spPr>
        <p:txBody>
          <a:bodyPr/>
          <a:lstStyle/>
          <a:p>
            <a:r>
              <a:rPr lang="en-US" dirty="0">
                <a:solidFill>
                  <a:schemeClr val="accent2">
                    <a:lumMod val="50000"/>
                  </a:schemeClr>
                </a:solidFill>
                <a:latin typeface="Arial Black" panose="020B0A04020102020204" pitchFamily="34" charset="0"/>
                <a:cs typeface="Arial" panose="020B0604020202020204" pitchFamily="34" charset="0"/>
              </a:rPr>
              <a:t>HOW TO CREATE A DOMAIN MODEL</a:t>
            </a:r>
            <a:br>
              <a:rPr lang="en-US" b="1" dirty="0">
                <a:cs typeface="Arial" panose="020B0604020202020204" pitchFamily="34" charset="0"/>
              </a:rPr>
            </a:br>
            <a:endParaRPr lang="en-US" dirty="0"/>
          </a:p>
        </p:txBody>
      </p:sp>
      <p:sp>
        <p:nvSpPr>
          <p:cNvPr id="13" name="Content Placeholder 12">
            <a:extLst>
              <a:ext uri="{FF2B5EF4-FFF2-40B4-BE49-F238E27FC236}">
                <a16:creationId xmlns:a16="http://schemas.microsoft.com/office/drawing/2014/main" id="{7E5FC6D6-A736-2345-59F4-1FD7DBAEE852}"/>
              </a:ext>
            </a:extLst>
          </p:cNvPr>
          <p:cNvSpPr>
            <a:spLocks noGrp="1"/>
          </p:cNvSpPr>
          <p:nvPr>
            <p:ph idx="1"/>
          </p:nvPr>
        </p:nvSpPr>
        <p:spPr>
          <a:xfrm>
            <a:off x="6591714" y="332510"/>
            <a:ext cx="5461739" cy="4679830"/>
          </a:xfrm>
        </p:spPr>
        <p:txBody>
          <a:bodyPr/>
          <a:lstStyle/>
          <a:p>
            <a:endParaRPr lang="en-US" b="1" u="sng"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800" cap="none" dirty="0">
                <a:latin typeface="Arial" panose="020B0604020202020204" pitchFamily="34" charset="0"/>
                <a:ea typeface="Calibri" panose="020F0502020204030204" pitchFamily="34" charset="0"/>
                <a:cs typeface="Arial" panose="020B0604020202020204" pitchFamily="34" charset="0"/>
              </a:rPr>
              <a:t>Find the conceptual classes.</a:t>
            </a:r>
          </a:p>
          <a:p>
            <a:pPr marL="342900" indent="-342900" algn="l">
              <a:buFont typeface="Arial" panose="020B0604020202020204" pitchFamily="34" charset="0"/>
              <a:buChar char="•"/>
            </a:pPr>
            <a:r>
              <a:rPr lang="en-US" sz="2800" cap="none" dirty="0">
                <a:latin typeface="Arial" panose="020B0604020202020204" pitchFamily="34" charset="0"/>
                <a:ea typeface="Calibri" panose="020F0502020204030204" pitchFamily="34" charset="0"/>
                <a:cs typeface="Arial" panose="020B0604020202020204" pitchFamily="34" charset="0"/>
              </a:rPr>
              <a:t>Draw them classes as UML class diagram.</a:t>
            </a:r>
          </a:p>
          <a:p>
            <a:pPr marL="342900" indent="-342900" algn="l">
              <a:buFont typeface="Arial" panose="020B0604020202020204" pitchFamily="34" charset="0"/>
              <a:buChar char="•"/>
            </a:pPr>
            <a:r>
              <a:rPr lang="en-US" sz="2800" cap="none" dirty="0">
                <a:latin typeface="Arial" panose="020B0604020202020204" pitchFamily="34" charset="0"/>
                <a:ea typeface="Calibri" panose="020F0502020204030204" pitchFamily="34" charset="0"/>
                <a:cs typeface="Arial" panose="020B0604020202020204" pitchFamily="34" charset="0"/>
              </a:rPr>
              <a:t>Add associations and attributes.</a:t>
            </a:r>
          </a:p>
        </p:txBody>
      </p:sp>
    </p:spTree>
    <p:extLst>
      <p:ext uri="{BB962C8B-B14F-4D97-AF65-F5344CB8AC3E}">
        <p14:creationId xmlns:p14="http://schemas.microsoft.com/office/powerpoint/2010/main" val="586478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372140" y="497555"/>
            <a:ext cx="7655441" cy="4177146"/>
          </a:xfrm>
        </p:spPr>
        <p:txBody>
          <a:bodyPr/>
          <a:lstStyle/>
          <a:p>
            <a:r>
              <a:rPr lang="en-US" sz="3200" dirty="0">
                <a:solidFill>
                  <a:schemeClr val="accent1">
                    <a:lumMod val="25000"/>
                  </a:schemeClr>
                </a:solidFill>
                <a:latin typeface="Arial Black" panose="020B0A04020102020204" pitchFamily="34" charset="0"/>
              </a:rPr>
              <a:t>WHAT IS A CONCEPTUAL CLASS?</a:t>
            </a:r>
            <a:br>
              <a:rPr lang="en-US" sz="3200" dirty="0">
                <a:solidFill>
                  <a:schemeClr val="tx1">
                    <a:lumMod val="75000"/>
                  </a:schemeClr>
                </a:solidFill>
              </a:rPr>
            </a:br>
            <a:br>
              <a:rPr lang="en-US" sz="2800" dirty="0">
                <a:solidFill>
                  <a:schemeClr val="tx1">
                    <a:lumMod val="75000"/>
                  </a:schemeClr>
                </a:solidFill>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A real-world "thing" that is important to your system.</a:t>
            </a:r>
            <a:br>
              <a:rPr lang="en-US" sz="2800" dirty="0">
                <a:latin typeface="Arial" panose="020B0604020202020204" pitchFamily="34" charset="0"/>
                <a:cs typeface="Arial" panose="020B0604020202020204" pitchFamily="34" charset="0"/>
              </a:rPr>
            </a:br>
            <a:br>
              <a:rPr lang="en-US" sz="3200" dirty="0">
                <a:latin typeface="Arial" panose="020B0604020202020204" pitchFamily="34" charset="0"/>
                <a:cs typeface="Arial" panose="020B0604020202020204" pitchFamily="34" charset="0"/>
              </a:rPr>
            </a:br>
            <a:r>
              <a:rPr lang="en-US" sz="3200" dirty="0">
                <a:latin typeface="Arial" panose="020B0604020202020204" pitchFamily="34" charset="0"/>
                <a:cs typeface="Arial" panose="020B0604020202020204" pitchFamily="34" charset="0"/>
              </a:rPr>
              <a:t>Examples from a Store System:</a:t>
            </a:r>
            <a:br>
              <a:rPr lang="en-US" sz="32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Item, Sale, Payment, Store, Register.</a:t>
            </a:r>
            <a:br>
              <a:rPr lang="en-US" sz="3200" dirty="0"/>
            </a:br>
            <a:br>
              <a:rPr lang="en-US" sz="3200" dirty="0">
                <a:solidFill>
                  <a:schemeClr val="tx1">
                    <a:lumMod val="75000"/>
                  </a:schemeClr>
                </a:solidFill>
              </a:rPr>
            </a:br>
            <a:br>
              <a:rPr lang="en-US" sz="3200" dirty="0">
                <a:solidFill>
                  <a:schemeClr val="tx1">
                    <a:lumMod val="75000"/>
                  </a:schemeClr>
                </a:solidFill>
              </a:rPr>
            </a:br>
            <a:br>
              <a:rPr lang="en-US" sz="2800" dirty="0"/>
            </a:b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2324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93518" y="904009"/>
            <a:ext cx="12022281" cy="498765"/>
          </a:xfrm>
        </p:spPr>
        <p:txBody>
          <a:bodyPr anchor="b"/>
          <a:lstStyle/>
          <a:p>
            <a:r>
              <a:rPr lang="en-US" sz="3200" dirty="0">
                <a:latin typeface="Arial Black" panose="020B0A04020102020204" pitchFamily="34" charset="0"/>
              </a:rPr>
              <a:t>Strategies to Find Conceptual Classes:</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415636" y="1574218"/>
            <a:ext cx="8219209" cy="5179873"/>
          </a:xfrm>
        </p:spPr>
        <p:txBody>
          <a:bodyPr/>
          <a:lstStyle/>
          <a:p>
            <a:r>
              <a:rPr lang="en-US" b="1" cap="none" dirty="0">
                <a:latin typeface="Arial" panose="020B0604020202020204" pitchFamily="34" charset="0"/>
                <a:cs typeface="Arial" panose="020B0604020202020204" pitchFamily="34" charset="0"/>
              </a:rPr>
              <a:t>Strategy 1 — Reuse Existing Models</a:t>
            </a:r>
            <a:r>
              <a:rPr lang="en-US" cap="none" dirty="0">
                <a:latin typeface="Arial" panose="020B0604020202020204" pitchFamily="34" charset="0"/>
                <a:cs typeface="Arial" panose="020B0604020202020204" pitchFamily="34" charset="0"/>
              </a:rPr>
              <a:t> </a:t>
            </a:r>
            <a:r>
              <a:rPr lang="en-US" sz="2800" cap="none" dirty="0">
                <a:latin typeface="Arial" panose="020B0604020202020204" pitchFamily="34" charset="0"/>
                <a:cs typeface="Arial" panose="020B0604020202020204" pitchFamily="34" charset="0"/>
              </a:rPr>
              <a:t>:</a:t>
            </a:r>
          </a:p>
          <a:p>
            <a:r>
              <a:rPr lang="en-US" sz="2800" cap="none" dirty="0">
                <a:latin typeface="Arial" panose="020B0604020202020204" pitchFamily="34" charset="0"/>
                <a:cs typeface="Arial" panose="020B0604020202020204" pitchFamily="34" charset="0"/>
              </a:rPr>
              <a:t> </a:t>
            </a:r>
            <a:r>
              <a:rPr lang="en-US" sz="2800" cap="none" dirty="0">
                <a:latin typeface="Arial" panose="020B0604020202020204" pitchFamily="34" charset="0"/>
                <a:ea typeface="Calibri Light" panose="020F0302020204030204" pitchFamily="34" charset="0"/>
                <a:cs typeface="Arial" panose="020B0604020202020204" pitchFamily="34" charset="0"/>
              </a:rPr>
              <a:t>Modify Already-published Domain Models For Similar Systems (E.G., Inventory, Finance, Health)</a:t>
            </a:r>
          </a:p>
          <a:p>
            <a:r>
              <a:rPr lang="en-US" b="1" cap="none" dirty="0">
                <a:latin typeface="Arial" panose="020B0604020202020204" pitchFamily="34" charset="0"/>
                <a:cs typeface="Arial" panose="020B0604020202020204" pitchFamily="34" charset="0"/>
              </a:rPr>
              <a:t>Strategy 2 — Use A Category List </a:t>
            </a:r>
            <a:r>
              <a:rPr lang="en-US" cap="none" dirty="0">
                <a:latin typeface="Arial" panose="020B0604020202020204" pitchFamily="34" charset="0"/>
                <a:ea typeface="Calibri Light" panose="020F0302020204030204" pitchFamily="34" charset="0"/>
                <a:cs typeface="Arial" panose="020B0604020202020204" pitchFamily="34" charset="0"/>
              </a:rPr>
              <a:t>Use A Checklist Of Common Categories Like Physical Objects, Transactions, Roles, And Match Them To Your System</a:t>
            </a:r>
          </a:p>
          <a:p>
            <a:r>
              <a:rPr lang="en-US" b="1" cap="none" dirty="0">
                <a:latin typeface="Arial" panose="020B0604020202020204" pitchFamily="34" charset="0"/>
                <a:cs typeface="Arial" panose="020B0604020202020204" pitchFamily="34" charset="0"/>
              </a:rPr>
              <a:t>Strategy 3 — Identify Noun Phrases </a:t>
            </a:r>
            <a:r>
              <a:rPr lang="en-US" sz="2800" cap="none" dirty="0">
                <a:latin typeface="Arial" panose="020B0604020202020204" pitchFamily="34" charset="0"/>
                <a:ea typeface="Calibri Light" panose="020F0302020204030204" pitchFamily="34" charset="0"/>
                <a:cs typeface="Arial" panose="020B0604020202020204" pitchFamily="34" charset="0"/>
              </a:rPr>
              <a:t>Read Your Requirements And Extract All Nouns — Those Are Your Potential Classes</a:t>
            </a:r>
          </a:p>
          <a:p>
            <a:endParaRPr lang="en-US" dirty="0"/>
          </a:p>
        </p:txBody>
      </p:sp>
    </p:spTree>
    <p:extLst>
      <p:ext uri="{BB962C8B-B14F-4D97-AF65-F5344CB8AC3E}">
        <p14:creationId xmlns:p14="http://schemas.microsoft.com/office/powerpoint/2010/main" val="5200005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latin typeface="Arial Black" panose="020B0A04020102020204" pitchFamily="34" charset="0"/>
              </a:rPr>
              <a:t>NOUN PHRASE EXAMPLE: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pPr marL="0" indent="0">
              <a:buNone/>
            </a:pPr>
            <a:r>
              <a:rPr lang="en-US" dirty="0">
                <a:latin typeface="Arial" panose="020B0604020202020204" pitchFamily="34" charset="0"/>
                <a:cs typeface="Arial" panose="020B0604020202020204" pitchFamily="34" charset="0"/>
              </a:rPr>
              <a:t>Sentence</a:t>
            </a:r>
            <a:r>
              <a:rPr lang="en-US" sz="2800" dirty="0">
                <a:latin typeface="Arial" panose="020B0604020202020204" pitchFamily="34" charset="0"/>
                <a:cs typeface="Arial" panose="020B0604020202020204" pitchFamily="34" charset="0"/>
              </a:rPr>
              <a:t>: </a:t>
            </a:r>
            <a:r>
              <a:rPr lang="en-US" sz="2800" i="1" dirty="0">
                <a:latin typeface="Arial" panose="020B0604020202020204" pitchFamily="34" charset="0"/>
                <a:cs typeface="Arial" panose="020B0604020202020204" pitchFamily="34" charset="0"/>
              </a:rPr>
              <a:t>"</a:t>
            </a:r>
            <a:r>
              <a:rPr lang="en-US" sz="2800" dirty="0">
                <a:latin typeface="Arial" panose="020B0604020202020204" pitchFamily="34" charset="0"/>
                <a:cs typeface="Arial" panose="020B0604020202020204" pitchFamily="34" charset="0"/>
              </a:rPr>
              <a:t>Customer visits store, picks item, makes payment at register“</a:t>
            </a:r>
          </a:p>
          <a:p>
            <a:pPr marL="0" indent="0">
              <a:buNone/>
            </a:pPr>
            <a:r>
              <a:rPr lang="en-US" dirty="0">
                <a:latin typeface="Arial" panose="020B0604020202020204" pitchFamily="34" charset="0"/>
                <a:cs typeface="Arial" panose="020B0604020202020204" pitchFamily="34" charset="0"/>
              </a:rPr>
              <a:t>Extracted Classes</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Customer → Store → Item → Payment → Register</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1956539" y="987136"/>
            <a:ext cx="10360152" cy="1174173"/>
          </a:xfrm>
        </p:spPr>
        <p:txBody>
          <a:bodyPr anchor="b"/>
          <a:lstStyle/>
          <a:p>
            <a:r>
              <a:rPr lang="en-US" b="1" dirty="0"/>
              <a:t>Method 2: </a:t>
            </a:r>
            <a:r>
              <a:rPr lang="en-US" b="1" dirty="0">
                <a:latin typeface="Arial Black" panose="020B0A04020102020204" pitchFamily="34" charset="0"/>
              </a:rPr>
              <a:t>Category</a:t>
            </a:r>
            <a:r>
              <a:rPr lang="en-US" b="1" dirty="0"/>
              <a:t> List</a:t>
            </a:r>
            <a:br>
              <a:rPr lang="en-US" b="1" dirty="0"/>
            </a:br>
            <a:endParaRPr lang="en-US" dirty="0"/>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941351" y="2015836"/>
            <a:ext cx="8633813" cy="3041650"/>
          </a:xfrm>
        </p:spPr>
        <p:txBody>
          <a:bodyPr/>
          <a:lstStyle/>
          <a:p>
            <a:r>
              <a:rPr lang="en-US" cap="none" dirty="0">
                <a:latin typeface="Arial" panose="020B0604020202020204" pitchFamily="34" charset="0"/>
                <a:ea typeface="Calibri" panose="020F0502020204030204" pitchFamily="34" charset="0"/>
                <a:cs typeface="Arial" panose="020B0604020202020204" pitchFamily="34" charset="0"/>
              </a:rPr>
              <a:t>The Fastest Way To Start A Domain Model Is To Match Your System Against A Standard Category Checklist</a:t>
            </a:r>
            <a:r>
              <a:rPr lang="en-US" cap="none"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096717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dirty="0">
                <a:latin typeface="Arial Black" panose="020B0A04020102020204" pitchFamily="34" charset="0"/>
              </a:rPr>
              <a:t>Most Important Categories to Check:</a:t>
            </a:r>
          </a:p>
        </p:txBody>
      </p:sp>
      <p:graphicFrame>
        <p:nvGraphicFramePr>
          <p:cNvPr id="4" name="Content Placeholder 3">
            <a:extLst>
              <a:ext uri="{FF2B5EF4-FFF2-40B4-BE49-F238E27FC236}">
                <a16:creationId xmlns:a16="http://schemas.microsoft.com/office/drawing/2014/main" id="{7BD0CFE3-3BFE-8264-9321-D51E13ABEE4D}"/>
              </a:ext>
            </a:extLst>
          </p:cNvPr>
          <p:cNvGraphicFramePr>
            <a:graphicFrameLocks noGrp="1"/>
          </p:cNvGraphicFramePr>
          <p:nvPr>
            <p:ph sz="quarter" idx="13"/>
            <p:extLst>
              <p:ext uri="{D42A27DB-BD31-4B8C-83A1-F6EECF244321}">
                <p14:modId xmlns:p14="http://schemas.microsoft.com/office/powerpoint/2010/main" val="591578676"/>
              </p:ext>
            </p:extLst>
          </p:nvPr>
        </p:nvGraphicFramePr>
        <p:xfrm>
          <a:off x="-93518" y="2543842"/>
          <a:ext cx="5694219" cy="3168016"/>
        </p:xfrm>
        <a:graphic>
          <a:graphicData uri="http://schemas.openxmlformats.org/drawingml/2006/table">
            <a:tbl>
              <a:tblPr/>
              <a:tblGrid>
                <a:gridCol w="2589806">
                  <a:extLst>
                    <a:ext uri="{9D8B030D-6E8A-4147-A177-3AD203B41FA5}">
                      <a16:colId xmlns:a16="http://schemas.microsoft.com/office/drawing/2014/main" val="2948737134"/>
                    </a:ext>
                  </a:extLst>
                </a:gridCol>
                <a:gridCol w="3104413">
                  <a:extLst>
                    <a:ext uri="{9D8B030D-6E8A-4147-A177-3AD203B41FA5}">
                      <a16:colId xmlns:a16="http://schemas.microsoft.com/office/drawing/2014/main" val="987285936"/>
                    </a:ext>
                  </a:extLst>
                </a:gridCol>
              </a:tblGrid>
              <a:tr h="510886">
                <a:tc>
                  <a:txBody>
                    <a:bodyPr/>
                    <a:lstStyle/>
                    <a:p>
                      <a:pPr>
                        <a:buNone/>
                      </a:pPr>
                      <a:endParaRPr lang="en-US" sz="2000" dirty="0"/>
                    </a:p>
                  </a:txBody>
                  <a:tcPr marL="29265" marR="29265" marT="14633" marB="14633" anchor="ctr">
                    <a:lnL>
                      <a:noFill/>
                    </a:lnL>
                    <a:lnR>
                      <a:noFill/>
                    </a:lnR>
                    <a:lnT>
                      <a:noFill/>
                    </a:lnT>
                    <a:lnB>
                      <a:noFill/>
                    </a:lnB>
                    <a:noFill/>
                  </a:tcPr>
                </a:tc>
                <a:tc>
                  <a:txBody>
                    <a:bodyPr/>
                    <a:lstStyle/>
                    <a:p>
                      <a:pPr>
                        <a:buNone/>
                      </a:pPr>
                      <a:endParaRPr lang="en-US" sz="2000" dirty="0"/>
                    </a:p>
                  </a:txBody>
                  <a:tcPr marL="29265" marR="29265" marT="14633" marB="14633" anchor="ctr">
                    <a:lnL>
                      <a:noFill/>
                    </a:lnL>
                    <a:lnR>
                      <a:noFill/>
                    </a:lnR>
                    <a:lnT>
                      <a:noFill/>
                    </a:lnT>
                    <a:lnB>
                      <a:noFill/>
                    </a:lnB>
                    <a:noFill/>
                  </a:tcPr>
                </a:tc>
                <a:extLst>
                  <a:ext uri="{0D108BD9-81ED-4DB2-BD59-A6C34878D82A}">
                    <a16:rowId xmlns:a16="http://schemas.microsoft.com/office/drawing/2014/main" val="2940716600"/>
                  </a:ext>
                </a:extLst>
              </a:tr>
              <a:tr h="613586">
                <a:tc>
                  <a:txBody>
                    <a:bodyPr/>
                    <a:lstStyle/>
                    <a:p>
                      <a:pPr>
                        <a:buNone/>
                      </a:pPr>
                      <a:endParaRPr lang="en-US" sz="2800" dirty="0">
                        <a:latin typeface="+mn-lt"/>
                        <a:ea typeface="Calibri" panose="020F0502020204030204" pitchFamily="34" charset="0"/>
                        <a:cs typeface="Calibri" panose="020F0502020204030204" pitchFamily="34" charset="0"/>
                      </a:endParaRPr>
                    </a:p>
                  </a:txBody>
                  <a:tcPr marL="29265" marR="29265" marT="14633" marB="14633" anchor="ctr">
                    <a:lnL>
                      <a:noFill/>
                    </a:lnL>
                    <a:lnR>
                      <a:noFill/>
                    </a:lnR>
                    <a:lnT>
                      <a:noFill/>
                    </a:lnT>
                    <a:lnB>
                      <a:noFill/>
                    </a:lnB>
                    <a:noFill/>
                  </a:tcPr>
                </a:tc>
                <a:tc>
                  <a:txBody>
                    <a:bodyPr/>
                    <a:lstStyle/>
                    <a:p>
                      <a:pPr>
                        <a:buNone/>
                      </a:pPr>
                      <a:endParaRPr lang="en-US" sz="2800" b="0" dirty="0">
                        <a:latin typeface="+mn-lt"/>
                      </a:endParaRPr>
                    </a:p>
                  </a:txBody>
                  <a:tcPr marL="29265" marR="29265" marT="14633" marB="14633" anchor="ctr">
                    <a:lnL>
                      <a:noFill/>
                    </a:lnL>
                    <a:lnR>
                      <a:noFill/>
                    </a:lnR>
                    <a:lnT>
                      <a:noFill/>
                    </a:lnT>
                    <a:lnB>
                      <a:noFill/>
                    </a:lnB>
                    <a:noFill/>
                  </a:tcPr>
                </a:tc>
                <a:extLst>
                  <a:ext uri="{0D108BD9-81ED-4DB2-BD59-A6C34878D82A}">
                    <a16:rowId xmlns:a16="http://schemas.microsoft.com/office/drawing/2014/main" val="4171543900"/>
                  </a:ext>
                </a:extLst>
              </a:tr>
              <a:tr h="510886">
                <a:tc>
                  <a:txBody>
                    <a:bodyPr/>
                    <a:lstStyle/>
                    <a:p>
                      <a:pPr>
                        <a:buNone/>
                      </a:pPr>
                      <a:endParaRPr lang="en-US" sz="2800" dirty="0">
                        <a:latin typeface="+mn-lt"/>
                      </a:endParaRPr>
                    </a:p>
                  </a:txBody>
                  <a:tcPr marL="29265" marR="29265" marT="14633" marB="14633" anchor="ctr">
                    <a:lnL>
                      <a:noFill/>
                    </a:lnL>
                    <a:lnR>
                      <a:noFill/>
                    </a:lnR>
                    <a:lnT>
                      <a:noFill/>
                    </a:lnT>
                    <a:lnB>
                      <a:noFill/>
                    </a:lnB>
                    <a:noFill/>
                  </a:tcPr>
                </a:tc>
                <a:tc>
                  <a:txBody>
                    <a:bodyPr/>
                    <a:lstStyle/>
                    <a:p>
                      <a:pPr marL="0" indent="0">
                        <a:buFont typeface="Arial" panose="020B0604020202020204" pitchFamily="34" charset="0"/>
                        <a:buNone/>
                      </a:pPr>
                      <a:endParaRPr lang="en-US" sz="2800" dirty="0">
                        <a:latin typeface="+mn-lt"/>
                      </a:endParaRPr>
                    </a:p>
                  </a:txBody>
                  <a:tcPr marL="29265" marR="29265" marT="14633" marB="14633" anchor="ctr">
                    <a:lnL>
                      <a:noFill/>
                    </a:lnL>
                    <a:lnR>
                      <a:noFill/>
                    </a:lnR>
                    <a:lnT>
                      <a:noFill/>
                    </a:lnT>
                    <a:lnB>
                      <a:noFill/>
                    </a:lnB>
                    <a:noFill/>
                  </a:tcPr>
                </a:tc>
                <a:extLst>
                  <a:ext uri="{0D108BD9-81ED-4DB2-BD59-A6C34878D82A}">
                    <a16:rowId xmlns:a16="http://schemas.microsoft.com/office/drawing/2014/main" val="2024566305"/>
                  </a:ext>
                </a:extLst>
              </a:tr>
              <a:tr h="510886">
                <a:tc>
                  <a:txBody>
                    <a:bodyPr/>
                    <a:lstStyle/>
                    <a:p>
                      <a:pPr>
                        <a:buNone/>
                      </a:pPr>
                      <a:endParaRPr lang="en-US" sz="600" dirty="0"/>
                    </a:p>
                  </a:txBody>
                  <a:tcPr marL="29265" marR="29265" marT="14633" marB="14633" anchor="ctr">
                    <a:lnL>
                      <a:noFill/>
                    </a:lnL>
                    <a:lnR>
                      <a:noFill/>
                    </a:lnR>
                    <a:lnT>
                      <a:noFill/>
                    </a:lnT>
                    <a:lnB>
                      <a:noFill/>
                    </a:lnB>
                    <a:noFill/>
                  </a:tcPr>
                </a:tc>
                <a:tc>
                  <a:txBody>
                    <a:bodyPr/>
                    <a:lstStyle/>
                    <a:p>
                      <a:pPr>
                        <a:buNone/>
                      </a:pPr>
                      <a:endParaRPr lang="en-US" sz="2800" dirty="0"/>
                    </a:p>
                  </a:txBody>
                  <a:tcPr marL="29265" marR="29265" marT="14633" marB="14633" anchor="ctr">
                    <a:lnL>
                      <a:noFill/>
                    </a:lnL>
                    <a:lnR>
                      <a:noFill/>
                    </a:lnR>
                    <a:lnT>
                      <a:noFill/>
                    </a:lnT>
                    <a:lnB>
                      <a:noFill/>
                    </a:lnB>
                    <a:noFill/>
                  </a:tcPr>
                </a:tc>
                <a:extLst>
                  <a:ext uri="{0D108BD9-81ED-4DB2-BD59-A6C34878D82A}">
                    <a16:rowId xmlns:a16="http://schemas.microsoft.com/office/drawing/2014/main" val="4131209830"/>
                  </a:ext>
                </a:extLst>
              </a:tr>
              <a:tr h="510886">
                <a:tc>
                  <a:txBody>
                    <a:bodyPr/>
                    <a:lstStyle/>
                    <a:p>
                      <a:pPr>
                        <a:buNone/>
                      </a:pPr>
                      <a:endParaRPr lang="en-US" sz="600" dirty="0"/>
                    </a:p>
                  </a:txBody>
                  <a:tcPr marL="29265" marR="29265" marT="14633" marB="14633" anchor="ctr">
                    <a:lnL>
                      <a:noFill/>
                    </a:lnL>
                    <a:lnR>
                      <a:noFill/>
                    </a:lnR>
                    <a:lnT>
                      <a:noFill/>
                    </a:lnT>
                    <a:lnB>
                      <a:noFill/>
                    </a:lnB>
                    <a:noFill/>
                  </a:tcPr>
                </a:tc>
                <a:tc>
                  <a:txBody>
                    <a:bodyPr/>
                    <a:lstStyle/>
                    <a:p>
                      <a:pPr>
                        <a:buNone/>
                      </a:pPr>
                      <a:endParaRPr lang="en-US" sz="2800" dirty="0"/>
                    </a:p>
                  </a:txBody>
                  <a:tcPr marL="29265" marR="29265" marT="14633" marB="14633" anchor="ctr">
                    <a:lnL>
                      <a:noFill/>
                    </a:lnL>
                    <a:lnR>
                      <a:noFill/>
                    </a:lnR>
                    <a:lnT>
                      <a:noFill/>
                    </a:lnT>
                    <a:lnB>
                      <a:noFill/>
                    </a:lnB>
                    <a:noFill/>
                  </a:tcPr>
                </a:tc>
                <a:extLst>
                  <a:ext uri="{0D108BD9-81ED-4DB2-BD59-A6C34878D82A}">
                    <a16:rowId xmlns:a16="http://schemas.microsoft.com/office/drawing/2014/main" val="2111569130"/>
                  </a:ext>
                </a:extLst>
              </a:tr>
              <a:tr h="510886">
                <a:tc>
                  <a:txBody>
                    <a:bodyPr/>
                    <a:lstStyle/>
                    <a:p>
                      <a:pPr>
                        <a:buNone/>
                      </a:pPr>
                      <a:endParaRPr lang="en-US" sz="600"/>
                    </a:p>
                  </a:txBody>
                  <a:tcPr marL="29265" marR="29265" marT="14633" marB="14633" anchor="ctr">
                    <a:lnL>
                      <a:noFill/>
                    </a:lnL>
                    <a:lnR>
                      <a:noFill/>
                    </a:lnR>
                    <a:lnT>
                      <a:noFill/>
                    </a:lnT>
                    <a:lnB>
                      <a:noFill/>
                    </a:lnB>
                    <a:noFill/>
                  </a:tcPr>
                </a:tc>
                <a:tc>
                  <a:txBody>
                    <a:bodyPr/>
                    <a:lstStyle/>
                    <a:p>
                      <a:pPr>
                        <a:buNone/>
                      </a:pPr>
                      <a:endParaRPr lang="en-US" sz="2800" dirty="0"/>
                    </a:p>
                  </a:txBody>
                  <a:tcPr marL="29265" marR="29265" marT="14633" marB="14633" anchor="ctr">
                    <a:lnL>
                      <a:noFill/>
                    </a:lnL>
                    <a:lnR>
                      <a:noFill/>
                    </a:lnR>
                    <a:lnT>
                      <a:noFill/>
                    </a:lnT>
                    <a:lnB>
                      <a:noFill/>
                    </a:lnB>
                    <a:noFill/>
                  </a:tcPr>
                </a:tc>
                <a:extLst>
                  <a:ext uri="{0D108BD9-81ED-4DB2-BD59-A6C34878D82A}">
                    <a16:rowId xmlns:a16="http://schemas.microsoft.com/office/drawing/2014/main" val="3414969497"/>
                  </a:ext>
                </a:extLst>
              </a:tr>
            </a:tbl>
          </a:graphicData>
        </a:graphic>
      </p:graphicFrame>
      <p:graphicFrame>
        <p:nvGraphicFramePr>
          <p:cNvPr id="5" name="Content Placeholder 4">
            <a:extLst>
              <a:ext uri="{FF2B5EF4-FFF2-40B4-BE49-F238E27FC236}">
                <a16:creationId xmlns:a16="http://schemas.microsoft.com/office/drawing/2014/main" id="{049F31A3-04F7-87B1-B137-2D81357B4D30}"/>
              </a:ext>
            </a:extLst>
          </p:cNvPr>
          <p:cNvGraphicFramePr>
            <a:graphicFrameLocks noGrp="1"/>
          </p:cNvGraphicFramePr>
          <p:nvPr>
            <p:ph sz="quarter" idx="12"/>
            <p:extLst>
              <p:ext uri="{D42A27DB-BD31-4B8C-83A1-F6EECF244321}">
                <p14:modId xmlns:p14="http://schemas.microsoft.com/office/powerpoint/2010/main" val="1513167282"/>
              </p:ext>
            </p:extLst>
          </p:nvPr>
        </p:nvGraphicFramePr>
        <p:xfrm>
          <a:off x="914400" y="2543842"/>
          <a:ext cx="6537324" cy="2966720"/>
        </p:xfrm>
        <a:graphic>
          <a:graphicData uri="http://schemas.openxmlformats.org/drawingml/2006/table">
            <a:tbl>
              <a:tblPr firstRow="1" bandRow="1">
                <a:tableStyleId>{284E427A-3D55-4303-BF80-6455036E1DE7}</a:tableStyleId>
              </a:tblPr>
              <a:tblGrid>
                <a:gridCol w="3268662">
                  <a:extLst>
                    <a:ext uri="{9D8B030D-6E8A-4147-A177-3AD203B41FA5}">
                      <a16:colId xmlns:a16="http://schemas.microsoft.com/office/drawing/2014/main" val="3671987775"/>
                    </a:ext>
                  </a:extLst>
                </a:gridCol>
                <a:gridCol w="3268662">
                  <a:extLst>
                    <a:ext uri="{9D8B030D-6E8A-4147-A177-3AD203B41FA5}">
                      <a16:colId xmlns:a16="http://schemas.microsoft.com/office/drawing/2014/main" val="2527900826"/>
                    </a:ext>
                  </a:extLst>
                </a:gridCol>
              </a:tblGrid>
              <a:tr h="370840">
                <a:tc>
                  <a:txBody>
                    <a:bodyPr/>
                    <a:lstStyle/>
                    <a:p>
                      <a:r>
                        <a:rPr lang="en-US" dirty="0"/>
                        <a:t>Category</a:t>
                      </a:r>
                    </a:p>
                  </a:txBody>
                  <a:tcPr/>
                </a:tc>
                <a:tc>
                  <a:txBody>
                    <a:bodyPr/>
                    <a:lstStyle/>
                    <a:p>
                      <a:r>
                        <a:rPr lang="en-US" dirty="0"/>
                        <a:t>Real Example</a:t>
                      </a:r>
                    </a:p>
                  </a:txBody>
                  <a:tcPr/>
                </a:tc>
                <a:extLst>
                  <a:ext uri="{0D108BD9-81ED-4DB2-BD59-A6C34878D82A}">
                    <a16:rowId xmlns:a16="http://schemas.microsoft.com/office/drawing/2014/main" val="3057711113"/>
                  </a:ext>
                </a:extLst>
              </a:tr>
              <a:tr h="370840">
                <a:tc>
                  <a:txBody>
                    <a:bodyPr/>
                    <a:lstStyle/>
                    <a:p>
                      <a:pPr>
                        <a:buNone/>
                      </a:pPr>
                      <a:r>
                        <a:rPr lang="en-US" dirty="0"/>
                        <a:t>Business Transactions</a:t>
                      </a:r>
                    </a:p>
                  </a:txBody>
                  <a:tcPr anchor="ctr"/>
                </a:tc>
                <a:tc>
                  <a:txBody>
                    <a:bodyPr/>
                    <a:lstStyle/>
                    <a:p>
                      <a:pPr>
                        <a:buNone/>
                      </a:pPr>
                      <a:r>
                        <a:rPr lang="en-US" dirty="0"/>
                        <a:t>Sale, Payment, Reservation</a:t>
                      </a:r>
                    </a:p>
                  </a:txBody>
                  <a:tcPr anchor="ctr"/>
                </a:tc>
                <a:extLst>
                  <a:ext uri="{0D108BD9-81ED-4DB2-BD59-A6C34878D82A}">
                    <a16:rowId xmlns:a16="http://schemas.microsoft.com/office/drawing/2014/main" val="2203275199"/>
                  </a:ext>
                </a:extLst>
              </a:tr>
              <a:tr h="370840">
                <a:tc>
                  <a:txBody>
                    <a:bodyPr/>
                    <a:lstStyle/>
                    <a:p>
                      <a:pPr>
                        <a:buNone/>
                      </a:pPr>
                      <a:r>
                        <a:rPr lang="en-US" dirty="0"/>
                        <a:t>Transaction Line Items</a:t>
                      </a:r>
                    </a:p>
                  </a:txBody>
                  <a:tcPr anchor="ctr"/>
                </a:tc>
                <a:tc>
                  <a:txBody>
                    <a:bodyPr/>
                    <a:lstStyle/>
                    <a:p>
                      <a:pPr>
                        <a:buNone/>
                      </a:pPr>
                      <a:r>
                        <a:rPr lang="en-US" dirty="0"/>
                        <a:t>SalesLineItem</a:t>
                      </a:r>
                    </a:p>
                  </a:txBody>
                  <a:tcPr anchor="ctr"/>
                </a:tc>
                <a:extLst>
                  <a:ext uri="{0D108BD9-81ED-4DB2-BD59-A6C34878D82A}">
                    <a16:rowId xmlns:a16="http://schemas.microsoft.com/office/drawing/2014/main" val="2843707420"/>
                  </a:ext>
                </a:extLst>
              </a:tr>
              <a:tr h="370840">
                <a:tc>
                  <a:txBody>
                    <a:bodyPr/>
                    <a:lstStyle/>
                    <a:p>
                      <a:pPr>
                        <a:buNone/>
                      </a:pPr>
                      <a:r>
                        <a:rPr lang="en-US" dirty="0"/>
                        <a:t>Product/Service</a:t>
                      </a:r>
                    </a:p>
                  </a:txBody>
                  <a:tcPr anchor="ctr"/>
                </a:tc>
                <a:tc>
                  <a:txBody>
                    <a:bodyPr/>
                    <a:lstStyle/>
                    <a:p>
                      <a:pPr>
                        <a:buNone/>
                      </a:pPr>
                      <a:r>
                        <a:rPr lang="en-US" dirty="0"/>
                        <a:t>Item, Flight, Seat</a:t>
                      </a:r>
                    </a:p>
                  </a:txBody>
                  <a:tcPr anchor="ctr"/>
                </a:tc>
                <a:extLst>
                  <a:ext uri="{0D108BD9-81ED-4DB2-BD59-A6C34878D82A}">
                    <a16:rowId xmlns:a16="http://schemas.microsoft.com/office/drawing/2014/main" val="3445041655"/>
                  </a:ext>
                </a:extLst>
              </a:tr>
              <a:tr h="370840">
                <a:tc>
                  <a:txBody>
                    <a:bodyPr/>
                    <a:lstStyle/>
                    <a:p>
                      <a:pPr>
                        <a:buNone/>
                      </a:pPr>
                      <a:r>
                        <a:rPr lang="en-US" dirty="0"/>
                        <a:t>Where is it recorded?</a:t>
                      </a:r>
                    </a:p>
                  </a:txBody>
                  <a:tcPr anchor="ctr"/>
                </a:tc>
                <a:tc>
                  <a:txBody>
                    <a:bodyPr/>
                    <a:lstStyle/>
                    <a:p>
                      <a:pPr>
                        <a:buNone/>
                      </a:pPr>
                      <a:r>
                        <a:rPr lang="en-US" dirty="0"/>
                        <a:t>Register, Ledger</a:t>
                      </a:r>
                    </a:p>
                  </a:txBody>
                  <a:tcPr anchor="ctr"/>
                </a:tc>
                <a:extLst>
                  <a:ext uri="{0D108BD9-81ED-4DB2-BD59-A6C34878D82A}">
                    <a16:rowId xmlns:a16="http://schemas.microsoft.com/office/drawing/2014/main" val="3052779112"/>
                  </a:ext>
                </a:extLst>
              </a:tr>
              <a:tr h="370840">
                <a:tc>
                  <a:txBody>
                    <a:bodyPr/>
                    <a:lstStyle/>
                    <a:p>
                      <a:pPr>
                        <a:buNone/>
                      </a:pPr>
                      <a:r>
                        <a:rPr lang="en-US" dirty="0"/>
                        <a:t>People/Roles involved</a:t>
                      </a:r>
                    </a:p>
                  </a:txBody>
                  <a:tcPr anchor="ctr"/>
                </a:tc>
                <a:tc>
                  <a:txBody>
                    <a:bodyPr/>
                    <a:lstStyle/>
                    <a:p>
                      <a:pPr>
                        <a:buNone/>
                      </a:pPr>
                      <a:r>
                        <a:rPr lang="en-US" dirty="0"/>
                        <a:t>Cashier, Customer, Passenger</a:t>
                      </a:r>
                    </a:p>
                  </a:txBody>
                  <a:tcPr anchor="ctr"/>
                </a:tc>
                <a:extLst>
                  <a:ext uri="{0D108BD9-81ED-4DB2-BD59-A6C34878D82A}">
                    <a16:rowId xmlns:a16="http://schemas.microsoft.com/office/drawing/2014/main" val="3319898692"/>
                  </a:ext>
                </a:extLst>
              </a:tr>
              <a:tr h="370840">
                <a:tc>
                  <a:txBody>
                    <a:bodyPr/>
                    <a:lstStyle/>
                    <a:p>
                      <a:pPr>
                        <a:buNone/>
                      </a:pPr>
                      <a:r>
                        <a:rPr lang="en-US" dirty="0"/>
                        <a:t>Place of transaction</a:t>
                      </a:r>
                    </a:p>
                  </a:txBody>
                  <a:tcPr anchor="ctr"/>
                </a:tc>
                <a:tc>
                  <a:txBody>
                    <a:bodyPr/>
                    <a:lstStyle/>
                    <a:p>
                      <a:pPr>
                        <a:buNone/>
                      </a:pPr>
                      <a:r>
                        <a:rPr lang="en-US" dirty="0"/>
                        <a:t>Store, Airport</a:t>
                      </a:r>
                    </a:p>
                  </a:txBody>
                  <a:tcPr anchor="ctr"/>
                </a:tc>
                <a:extLst>
                  <a:ext uri="{0D108BD9-81ED-4DB2-BD59-A6C34878D82A}">
                    <a16:rowId xmlns:a16="http://schemas.microsoft.com/office/drawing/2014/main" val="1001251455"/>
                  </a:ext>
                </a:extLst>
              </a:tr>
              <a:tr h="370840">
                <a:tc>
                  <a:txBody>
                    <a:bodyPr/>
                    <a:lstStyle/>
                    <a:p>
                      <a:pPr>
                        <a:buNone/>
                      </a:pPr>
                      <a:r>
                        <a:rPr lang="en-US" dirty="0"/>
                        <a:t>Physical objects</a:t>
                      </a:r>
                    </a:p>
                  </a:txBody>
                  <a:tcPr anchor="ctr"/>
                </a:tc>
                <a:tc>
                  <a:txBody>
                    <a:bodyPr/>
                    <a:lstStyle/>
                    <a:p>
                      <a:pPr>
                        <a:buNone/>
                      </a:pPr>
                      <a:r>
                        <a:rPr lang="en-US" dirty="0"/>
                        <a:t>Item, Board, Airplane</a:t>
                      </a:r>
                    </a:p>
                  </a:txBody>
                  <a:tcPr anchor="ctr"/>
                </a:tc>
                <a:extLst>
                  <a:ext uri="{0D108BD9-81ED-4DB2-BD59-A6C34878D82A}">
                    <a16:rowId xmlns:a16="http://schemas.microsoft.com/office/drawing/2014/main" val="427156818"/>
                  </a:ext>
                </a:extLst>
              </a:tr>
            </a:tbl>
          </a:graphicData>
        </a:graphic>
      </p:graphicFrame>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EA23B-A6A0-D89B-2B7A-62C93D442440}"/>
              </a:ext>
            </a:extLst>
          </p:cNvPr>
          <p:cNvSpPr>
            <a:spLocks noGrp="1"/>
          </p:cNvSpPr>
          <p:nvPr>
            <p:ph type="title"/>
          </p:nvPr>
        </p:nvSpPr>
        <p:spPr/>
        <p:txBody>
          <a:bodyPr/>
          <a:lstStyle/>
          <a:p>
            <a:r>
              <a:rPr lang="fr-FR" dirty="0">
                <a:latin typeface="Arial Black" panose="020B0A04020102020204" pitchFamily="34" charset="0"/>
              </a:rPr>
              <a:t>Method 3: Noun Phrase Identification:</a:t>
            </a: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09911B98-0F71-FF8E-66F7-A344EAA8B1E7}"/>
              </a:ext>
            </a:extLst>
          </p:cNvPr>
          <p:cNvSpPr>
            <a:spLocks noGrp="1"/>
          </p:cNvSpPr>
          <p:nvPr>
            <p:ph sz="quarter" idx="11"/>
          </p:nvPr>
        </p:nvSpPr>
        <p:spPr>
          <a:xfrm>
            <a:off x="914400" y="2039112"/>
            <a:ext cx="7658100" cy="3877055"/>
          </a:xfrm>
        </p:spPr>
        <p:txBody>
          <a:bodyPr>
            <a:normAutofit lnSpcReduction="10000"/>
          </a:bodyPr>
          <a:lstStyle/>
          <a:p>
            <a:r>
              <a:rPr lang="en-US" dirty="0">
                <a:latin typeface="Arial" panose="020B0604020202020204" pitchFamily="34" charset="0"/>
                <a:cs typeface="Arial" panose="020B0604020202020204" pitchFamily="34" charset="0"/>
              </a:rPr>
              <a:t>Read your use case story and highlight every noun — those are candidate classes.</a:t>
            </a:r>
          </a:p>
          <a:p>
            <a:r>
              <a:rPr lang="en-US" b="1" dirty="0">
                <a:latin typeface="Arial" panose="020B0604020202020204" pitchFamily="34" charset="0"/>
                <a:cs typeface="Arial" panose="020B0604020202020204" pitchFamily="34" charset="0"/>
              </a:rPr>
              <a:t>Example from Process Sale use case:</a:t>
            </a:r>
            <a:endParaRPr lang="en-US"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"Customer arrives at POS checkout with goods. Cashier starts a sale, enters item identifier. System records sale line item, shows price and total. Customer pays, system handles payment, prints receipt."</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Nouns Extracted = Candidate Classes:</a:t>
            </a:r>
            <a:r>
              <a:rPr lang="en-US" dirty="0">
                <a:latin typeface="Arial" panose="020B0604020202020204" pitchFamily="34" charset="0"/>
                <a:cs typeface="Arial" panose="020B0604020202020204" pitchFamily="34" charset="0"/>
              </a:rPr>
              <a:t> Customer, POS, Goods, Cashier, Sale, Item, Price, Total, Payment, Receipt, Accounting, Inventory</a:t>
            </a:r>
          </a:p>
          <a:p>
            <a:r>
              <a:rPr lang="en-US" b="1" dirty="0">
                <a:latin typeface="Arial" panose="020B0604020202020204" pitchFamily="34" charset="0"/>
                <a:cs typeface="Arial" panose="020B0604020202020204" pitchFamily="34" charset="0"/>
              </a:rPr>
              <a:t>Warning:</a:t>
            </a:r>
            <a:r>
              <a:rPr lang="en-US" dirty="0">
                <a:latin typeface="Arial" panose="020B0604020202020204" pitchFamily="34" charset="0"/>
                <a:cs typeface="Arial" panose="020B0604020202020204" pitchFamily="34" charset="0"/>
              </a:rPr>
              <a:t> Not every noun becomes a class. Some are attributes, some are out of scope. Use judgment!</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793572-E394-061A-5560-D8CBD134C132}"/>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1377124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dirty="0">
                <a:latin typeface="Arial Black" panose="020B0A04020102020204" pitchFamily="34" charset="0"/>
              </a:rPr>
              <a:t>Case Study: POS Domain Model (Iteration 1)</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1215734" y="2493817"/>
            <a:ext cx="9102439" cy="3449781"/>
          </a:xfrm>
        </p:spPr>
        <p:txBody>
          <a:bodyPr>
            <a:normAutofit/>
          </a:bodyPr>
          <a:lstStyle/>
          <a:p>
            <a:r>
              <a:rPr lang="en-US" sz="2400" dirty="0">
                <a:latin typeface="Arial" panose="020B0604020202020204" pitchFamily="34" charset="0"/>
                <a:cs typeface="Arial" panose="020B0604020202020204" pitchFamily="34" charset="0"/>
              </a:rPr>
              <a:t>After applying both methods, these classes were identified:</a:t>
            </a:r>
          </a:p>
          <a:p>
            <a:r>
              <a:rPr lang="en-US" sz="2400" b="1" dirty="0">
                <a:latin typeface="Arial" panose="020B0604020202020204" pitchFamily="34" charset="0"/>
                <a:cs typeface="Arial" panose="020B0604020202020204" pitchFamily="34" charset="0"/>
              </a:rPr>
              <a:t>Final Class List:</a:t>
            </a:r>
            <a:r>
              <a:rPr lang="en-US" sz="2400" dirty="0">
                <a:latin typeface="Arial" panose="020B0604020202020204" pitchFamily="34" charset="0"/>
                <a:cs typeface="Arial" panose="020B0604020202020204" pitchFamily="34" charset="0"/>
              </a:rPr>
              <a:t> Sale, </a:t>
            </a:r>
            <a:r>
              <a:rPr lang="en-US" sz="2400" dirty="0" err="1">
                <a:latin typeface="Arial" panose="020B0604020202020204" pitchFamily="34" charset="0"/>
                <a:cs typeface="Arial" panose="020B0604020202020204" pitchFamily="34" charset="0"/>
              </a:rPr>
              <a:t>CashPayment</a:t>
            </a:r>
            <a:r>
              <a:rPr lang="en-US" sz="2400" dirty="0">
                <a:latin typeface="Arial" panose="020B0604020202020204" pitchFamily="34" charset="0"/>
                <a:cs typeface="Arial" panose="020B0604020202020204" pitchFamily="34" charset="0"/>
              </a:rPr>
              <a:t>, SalesLineItem, Item, Register, Ledger, Cashier, Customer, Store, </a:t>
            </a:r>
            <a:r>
              <a:rPr lang="en-US" sz="2400" dirty="0" err="1">
                <a:latin typeface="Arial" panose="020B0604020202020204" pitchFamily="34" charset="0"/>
                <a:cs typeface="Arial" panose="020B0604020202020204" pitchFamily="34" charset="0"/>
              </a:rPr>
              <a:t>ProductDescription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ProductCatalog</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There is no single "correct" list — different modelers may find slightly different classes, but the important ones will always appear.</a:t>
            </a:r>
          </a:p>
          <a:p>
            <a:pPr marL="0" indent="0">
              <a:buNone/>
            </a:pP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p:txBody>
          <a:bodyPr/>
          <a:lstStyle/>
          <a:p>
            <a:r>
              <a:rPr lang="en-US" dirty="0">
                <a:latin typeface="Arial Black" panose="020B0A04020102020204" pitchFamily="34" charset="0"/>
              </a:rPr>
              <a:t>Golden Rules to Remember</a:t>
            </a: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21</a:t>
            </a:fld>
            <a:endParaRPr lang="en-US" dirty="0"/>
          </a:p>
        </p:txBody>
      </p:sp>
      <p:sp>
        <p:nvSpPr>
          <p:cNvPr id="2" name="Content Placeholder 1">
            <a:extLst>
              <a:ext uri="{FF2B5EF4-FFF2-40B4-BE49-F238E27FC236}">
                <a16:creationId xmlns:a16="http://schemas.microsoft.com/office/drawing/2014/main" id="{A913A5DC-FBA4-D3C2-C7B0-02FF125A8B84}"/>
              </a:ext>
            </a:extLst>
          </p:cNvPr>
          <p:cNvSpPr>
            <a:spLocks noGrp="1" noChangeArrowheads="1"/>
          </p:cNvSpPr>
          <p:nvPr>
            <p:ph sz="quarter" idx="12"/>
          </p:nvPr>
        </p:nvSpPr>
        <p:spPr bwMode="auto">
          <a:xfrm>
            <a:off x="509155" y="2620229"/>
            <a:ext cx="1007918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Start with transactions</a:t>
            </a:r>
            <a:r>
              <a:rPr kumimoji="0" lang="en-US" altLang="en-US" sz="1800" b="0" i="0" u="none" strike="noStrike" cap="none" normalizeH="0" baseline="0" dirty="0">
                <a:ln>
                  <a:noFill/>
                </a:ln>
                <a:solidFill>
                  <a:schemeClr val="tx1"/>
                </a:solidFill>
                <a:effectLst/>
                <a:latin typeface="Arial" panose="020B0604020202020204" pitchFamily="34" charset="0"/>
              </a:rPr>
              <a:t> — Sale, Payment, Reservation always come first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Every transaction has line items</a:t>
            </a:r>
            <a:r>
              <a:rPr kumimoji="0" lang="en-US" altLang="en-US" sz="1800" b="0" i="0" u="none" strike="noStrike" cap="none" normalizeH="0" baseline="0" dirty="0">
                <a:ln>
                  <a:noFill/>
                </a:ln>
                <a:solidFill>
                  <a:schemeClr val="tx1"/>
                </a:solidFill>
                <a:effectLst/>
                <a:latin typeface="Arial" panose="020B0604020202020204" pitchFamily="34" charset="0"/>
              </a:rPr>
              <a:t> — find them next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Ask who, where, what</a:t>
            </a:r>
            <a:r>
              <a:rPr kumimoji="0" lang="en-US" altLang="en-US" sz="1800" b="0" i="0" u="none" strike="noStrike" cap="none" normalizeH="0" baseline="0" dirty="0">
                <a:ln>
                  <a:noFill/>
                </a:ln>
                <a:solidFill>
                  <a:schemeClr val="tx1"/>
                </a:solidFill>
                <a:effectLst/>
                <a:latin typeface="Arial" panose="020B0604020202020204" pitchFamily="34" charset="0"/>
              </a:rPr>
              <a:t> — people, places, products related to the transaction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Nouns = candidates</a:t>
            </a:r>
            <a:r>
              <a:rPr kumimoji="0" lang="en-US" altLang="en-US" sz="1800" b="0" i="0" u="none" strike="noStrike" cap="none" normalizeH="0" baseline="0" dirty="0">
                <a:ln>
                  <a:noFill/>
                </a:ln>
                <a:solidFill>
                  <a:schemeClr val="tx1"/>
                </a:solidFill>
                <a:effectLst/>
                <a:latin typeface="Arial" panose="020B0604020202020204" pitchFamily="34" charset="0"/>
              </a:rPr>
              <a:t>, not guaranteed classes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Some nouns are attributes</a:t>
            </a:r>
            <a:r>
              <a:rPr kumimoji="0" lang="en-US" altLang="en-US" sz="1800" b="0" i="0" u="none" strike="noStrike" cap="none" normalizeH="0" baseline="0" dirty="0">
                <a:ln>
                  <a:noFill/>
                </a:ln>
                <a:solidFill>
                  <a:schemeClr val="tx1"/>
                </a:solidFill>
                <a:effectLst/>
                <a:latin typeface="Arial" panose="020B0604020202020204" pitchFamily="34" charset="0"/>
              </a:rPr>
              <a:t> (price, date) not classes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 perfect list exists</a:t>
            </a:r>
            <a:r>
              <a:rPr kumimoji="0" lang="en-US" altLang="en-US" sz="1800" b="0" i="0" u="none" strike="noStrike" cap="none" normalizeH="0" baseline="0" dirty="0">
                <a:ln>
                  <a:noFill/>
                </a:ln>
                <a:solidFill>
                  <a:schemeClr val="tx1"/>
                </a:solidFill>
                <a:effectLst/>
                <a:latin typeface="Arial" panose="020B0604020202020204" pitchFamily="34" charset="0"/>
              </a:rPr>
              <a:t> — follow the strategy and similar results will emerge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Draw the diagram immediately</a:t>
            </a:r>
            <a:r>
              <a:rPr kumimoji="0" lang="en-US" altLang="en-US" sz="1800" b="0" i="0" u="none" strike="noStrike" cap="none" normalizeH="0" baseline="0" dirty="0">
                <a:ln>
                  <a:noFill/>
                </a:ln>
                <a:solidFill>
                  <a:schemeClr val="tx1"/>
                </a:solidFill>
                <a:effectLst/>
                <a:latin typeface="Arial" panose="020B0604020202020204" pitchFamily="34" charset="0"/>
              </a:rPr>
              <a:t> — don't wait, sketch classes as you find them </a:t>
            </a:r>
          </a:p>
        </p:txBody>
      </p:sp>
    </p:spTree>
    <p:extLst>
      <p:ext uri="{BB962C8B-B14F-4D97-AF65-F5344CB8AC3E}">
        <p14:creationId xmlns:p14="http://schemas.microsoft.com/office/powerpoint/2010/main" val="537809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9D65-92B7-F076-8507-13FC6D8F80DA}"/>
              </a:ext>
            </a:extLst>
          </p:cNvPr>
          <p:cNvSpPr>
            <a:spLocks noGrp="1"/>
          </p:cNvSpPr>
          <p:nvPr>
            <p:ph type="ctrTitle"/>
          </p:nvPr>
        </p:nvSpPr>
        <p:spPr>
          <a:xfrm>
            <a:off x="654627" y="259772"/>
            <a:ext cx="11014363" cy="1350819"/>
          </a:xfrm>
        </p:spPr>
        <p:txBody>
          <a:bodyPr/>
          <a:lstStyle/>
          <a:p>
            <a:r>
              <a:rPr lang="en-US" sz="4000" dirty="0"/>
              <a:t> Guidelines : Agile Modeling — Sketching a Class Diagram</a:t>
            </a:r>
          </a:p>
        </p:txBody>
      </p:sp>
      <p:sp>
        <p:nvSpPr>
          <p:cNvPr id="3" name="Content Placeholder 2">
            <a:extLst>
              <a:ext uri="{FF2B5EF4-FFF2-40B4-BE49-F238E27FC236}">
                <a16:creationId xmlns:a16="http://schemas.microsoft.com/office/drawing/2014/main" id="{470BFB44-F209-48D0-E721-CC0737420272}"/>
              </a:ext>
            </a:extLst>
          </p:cNvPr>
          <p:cNvSpPr>
            <a:spLocks noGrp="1"/>
          </p:cNvSpPr>
          <p:nvPr>
            <p:ph sz="quarter" idx="13"/>
          </p:nvPr>
        </p:nvSpPr>
        <p:spPr>
          <a:xfrm>
            <a:off x="654627" y="1610591"/>
            <a:ext cx="10099962" cy="1475508"/>
          </a:xfrm>
        </p:spPr>
        <p:txBody>
          <a:bodyPr/>
          <a:lstStyle/>
          <a:p>
            <a:r>
              <a:rPr lang="en-US" sz="2400" b="1" dirty="0"/>
              <a:t>What is Agile Modeling Sketching?</a:t>
            </a:r>
          </a:p>
          <a:p>
            <a:r>
              <a:rPr lang="en-US" cap="none" dirty="0"/>
              <a:t>when building a domain model, you </a:t>
            </a:r>
            <a:r>
              <a:rPr lang="en-US" b="1" cap="none" dirty="0"/>
              <a:t>don't need perfect diagrams</a:t>
            </a:r>
            <a:r>
              <a:rPr lang="en-US" cap="none" dirty="0"/>
              <a:t> — simple hand-drawn sketches work great, especially in early stages.</a:t>
            </a:r>
          </a:p>
          <a:p>
            <a:endParaRPr lang="en-US" dirty="0"/>
          </a:p>
        </p:txBody>
      </p:sp>
      <p:sp>
        <p:nvSpPr>
          <p:cNvPr id="5" name="TextBox 4">
            <a:extLst>
              <a:ext uri="{FF2B5EF4-FFF2-40B4-BE49-F238E27FC236}">
                <a16:creationId xmlns:a16="http://schemas.microsoft.com/office/drawing/2014/main" id="{2F726A17-0C7C-FA9D-1C8D-AFDBC6301570}"/>
              </a:ext>
            </a:extLst>
          </p:cNvPr>
          <p:cNvSpPr txBox="1"/>
          <p:nvPr/>
        </p:nvSpPr>
        <p:spPr>
          <a:xfrm>
            <a:off x="878030" y="2961410"/>
            <a:ext cx="9679133" cy="677108"/>
          </a:xfrm>
          <a:prstGeom prst="rect">
            <a:avLst/>
          </a:prstGeom>
          <a:noFill/>
        </p:spPr>
        <p:txBody>
          <a:bodyPr wrap="square">
            <a:spAutoFit/>
          </a:bodyPr>
          <a:lstStyle/>
          <a:p>
            <a:r>
              <a:rPr lang="en-US" b="1" dirty="0"/>
              <a:t>Key Observation from Figure 9.8</a:t>
            </a:r>
          </a:p>
          <a:p>
            <a:r>
              <a:rPr lang="en-US" sz="2000" dirty="0"/>
              <a:t>Look at the Monopoly diagram — notice the boxes are </a:t>
            </a:r>
            <a:r>
              <a:rPr lang="en-US" sz="2000" b="1" dirty="0"/>
              <a:t>open on the bottom and right sides:</a:t>
            </a:r>
            <a:endParaRPr lang="en-US" sz="2000" dirty="0"/>
          </a:p>
        </p:txBody>
      </p:sp>
      <p:pic>
        <p:nvPicPr>
          <p:cNvPr id="7" name="Picture 6">
            <a:extLst>
              <a:ext uri="{FF2B5EF4-FFF2-40B4-BE49-F238E27FC236}">
                <a16:creationId xmlns:a16="http://schemas.microsoft.com/office/drawing/2014/main" id="{2AE08E71-19E5-918F-BC54-52F031277A3E}"/>
              </a:ext>
            </a:extLst>
          </p:cNvPr>
          <p:cNvPicPr>
            <a:picLocks noChangeAspect="1"/>
          </p:cNvPicPr>
          <p:nvPr/>
        </p:nvPicPr>
        <p:blipFill>
          <a:blip r:embed="rId2"/>
          <a:stretch>
            <a:fillRect/>
          </a:stretch>
        </p:blipFill>
        <p:spPr>
          <a:xfrm>
            <a:off x="1879417" y="3859220"/>
            <a:ext cx="8433166" cy="2572754"/>
          </a:xfrm>
          <a:prstGeom prst="rect">
            <a:avLst/>
          </a:prstGeom>
        </p:spPr>
      </p:pic>
    </p:spTree>
    <p:extLst>
      <p:ext uri="{BB962C8B-B14F-4D97-AF65-F5344CB8AC3E}">
        <p14:creationId xmlns:p14="http://schemas.microsoft.com/office/powerpoint/2010/main" val="3895799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AB2FE-FF3F-9F55-3D62-66CB81967299}"/>
              </a:ext>
            </a:extLst>
          </p:cNvPr>
          <p:cNvSpPr>
            <a:spLocks noGrp="1"/>
          </p:cNvSpPr>
          <p:nvPr>
            <p:ph type="ctrTitle"/>
          </p:nvPr>
        </p:nvSpPr>
        <p:spPr>
          <a:xfrm>
            <a:off x="633843" y="498763"/>
            <a:ext cx="9746674" cy="1600201"/>
          </a:xfrm>
        </p:spPr>
        <p:txBody>
          <a:bodyPr/>
          <a:lstStyle/>
          <a:p>
            <a:r>
              <a:rPr lang="en-US" sz="2800" b="1" dirty="0"/>
              <a:t>Why open sides?</a:t>
            </a:r>
            <a:br>
              <a:rPr lang="en-US" sz="2800" b="1" dirty="0"/>
            </a:br>
            <a:br>
              <a:rPr lang="en-US" sz="2800" dirty="0"/>
            </a:br>
            <a:r>
              <a:rPr lang="en-US" sz="2400" dirty="0"/>
              <a:t>So you can </a:t>
            </a:r>
            <a:r>
              <a:rPr lang="en-US" sz="2400" b="1" dirty="0"/>
              <a:t>easily add new attributes and details later</a:t>
            </a:r>
            <a:r>
              <a:rPr lang="en-US" sz="2400" dirty="0"/>
              <a:t> without redrawing the whole box!</a:t>
            </a:r>
            <a:br>
              <a:rPr lang="en-US" dirty="0"/>
            </a:br>
            <a:endParaRPr lang="en-US" dirty="0"/>
          </a:p>
        </p:txBody>
      </p:sp>
      <p:sp>
        <p:nvSpPr>
          <p:cNvPr id="5" name="TextBox 4">
            <a:extLst>
              <a:ext uri="{FF2B5EF4-FFF2-40B4-BE49-F238E27FC236}">
                <a16:creationId xmlns:a16="http://schemas.microsoft.com/office/drawing/2014/main" id="{30704765-70C5-047B-59D4-2A8FCF6E6F54}"/>
              </a:ext>
            </a:extLst>
          </p:cNvPr>
          <p:cNvSpPr txBox="1"/>
          <p:nvPr/>
        </p:nvSpPr>
        <p:spPr>
          <a:xfrm>
            <a:off x="633843" y="2229777"/>
            <a:ext cx="10965878" cy="3170099"/>
          </a:xfrm>
          <a:prstGeom prst="rect">
            <a:avLst/>
          </a:prstGeom>
          <a:noFill/>
        </p:spPr>
        <p:txBody>
          <a:bodyPr wrap="square">
            <a:spAutoFit/>
          </a:bodyPr>
          <a:lstStyle/>
          <a:p>
            <a:pPr>
              <a:buNone/>
            </a:pPr>
            <a:r>
              <a:rPr lang="en-US" sz="2000" b="1" dirty="0"/>
              <a:t>1. Sketch First, Perfect Later</a:t>
            </a:r>
            <a:r>
              <a:rPr lang="en-US" dirty="0"/>
              <a:t> </a:t>
            </a:r>
            <a:r>
              <a:rPr lang="en-US" sz="2000" dirty="0"/>
              <a:t>In Agile Modeling, start with rough hand-drawn class diagrams — don't waste time making them perfect too early.</a:t>
            </a:r>
          </a:p>
          <a:p>
            <a:pPr>
              <a:buNone/>
            </a:pPr>
            <a:r>
              <a:rPr lang="en-US" sz="2000" b="1" dirty="0"/>
              <a:t>2. Open Box Style</a:t>
            </a:r>
            <a:r>
              <a:rPr lang="en-US" sz="2000" dirty="0"/>
              <a:t> Draw class boxes with the bottom and right sides open — this allows easy expansion as new elements are discovered.</a:t>
            </a:r>
          </a:p>
          <a:p>
            <a:pPr>
              <a:buNone/>
            </a:pPr>
            <a:r>
              <a:rPr lang="en-US" sz="2000" b="1" dirty="0"/>
              <a:t>3. Spread Out on Whiteboard</a:t>
            </a:r>
            <a:r>
              <a:rPr lang="en-US" sz="2000" dirty="0"/>
              <a:t> In real practice, spread class boxes across the whiteboard with space between them  this makes it easier to draw associations and add new classes</a:t>
            </a:r>
            <a:r>
              <a:rPr lang="en-US" dirty="0"/>
              <a:t>.</a:t>
            </a:r>
          </a:p>
          <a:p>
            <a:pPr>
              <a:buNone/>
            </a:pPr>
            <a:r>
              <a:rPr lang="en-US" sz="2000" b="1" dirty="0"/>
              <a:t>4. Grow as You Learn</a:t>
            </a:r>
            <a:r>
              <a:rPr lang="en-US" sz="2000" dirty="0"/>
              <a:t> The diagram evolves — as you discover new attributes, relationships, or classes, you simply extend the open boxes.</a:t>
            </a:r>
          </a:p>
          <a:p>
            <a:pPr>
              <a:buNone/>
            </a:pPr>
            <a:r>
              <a:rPr lang="en-US" sz="2000" b="1" dirty="0"/>
              <a:t>5. Agile = Flexible</a:t>
            </a:r>
            <a:r>
              <a:rPr lang="en-US" sz="2000" dirty="0"/>
              <a:t> The goal is communication and thinking, not beautiful documentation. A rough sketch that helps the team understand is better than a perfect diagram that takes too long.</a:t>
            </a:r>
          </a:p>
        </p:txBody>
      </p:sp>
    </p:spTree>
    <p:extLst>
      <p:ext uri="{BB962C8B-B14F-4D97-AF65-F5344CB8AC3E}">
        <p14:creationId xmlns:p14="http://schemas.microsoft.com/office/powerpoint/2010/main" val="3681773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42BC-A856-EA99-BE53-AD9244711F61}"/>
              </a:ext>
            </a:extLst>
          </p:cNvPr>
          <p:cNvSpPr>
            <a:spLocks noGrp="1"/>
          </p:cNvSpPr>
          <p:nvPr>
            <p:ph type="ctrTitle"/>
          </p:nvPr>
        </p:nvSpPr>
        <p:spPr>
          <a:xfrm>
            <a:off x="415634" y="197426"/>
            <a:ext cx="11658601" cy="6182591"/>
          </a:xfrm>
        </p:spPr>
        <p:txBody>
          <a:bodyPr/>
          <a:lstStyle/>
          <a:p>
            <a:r>
              <a:rPr lang="en-US" sz="2400" b="1" dirty="0"/>
              <a:t>Should "Receipt" Be in the Domain Model?</a:t>
            </a:r>
            <a:br>
              <a:rPr lang="en-US" sz="2400" b="1" dirty="0"/>
            </a:br>
            <a:br>
              <a:rPr lang="en-US" sz="2400" b="1" dirty="0"/>
            </a:br>
            <a:r>
              <a:rPr lang="en-US" sz="2400" b="1" dirty="0"/>
              <a:t>Core Idea:</a:t>
            </a:r>
            <a:r>
              <a:rPr lang="en-US" sz="2400" dirty="0"/>
              <a:t> Not every real-world term needs to be a class — think before adding.</a:t>
            </a:r>
            <a:br>
              <a:rPr lang="en-US" sz="2400" dirty="0"/>
            </a:br>
            <a:br>
              <a:rPr lang="en-US" sz="2400" dirty="0"/>
            </a:br>
            <a:r>
              <a:rPr lang="en-US" sz="2400" b="1" dirty="0"/>
              <a:t>Key Points:</a:t>
            </a:r>
            <a:br>
              <a:rPr lang="en-US" sz="2400" dirty="0"/>
            </a:br>
            <a:r>
              <a:rPr lang="en-US" sz="2400" b="1" dirty="0"/>
              <a:t>1. Receipt = Duplicate Information</a:t>
            </a:r>
            <a:r>
              <a:rPr lang="en-US" sz="2400" dirty="0"/>
              <a:t> Receipt only shows Sale + Payment data  it adds no new information, so it's a candidate for exclusion.</a:t>
            </a:r>
            <a:br>
              <a:rPr lang="en-US" sz="2400" dirty="0"/>
            </a:br>
            <a:r>
              <a:rPr lang="en-US" sz="2400" b="1" dirty="0"/>
              <a:t>2. Reason to EXCLUDE Receipt </a:t>
            </a:r>
            <a:r>
              <a:rPr lang="en-US" sz="2400" dirty="0"/>
              <a:t> Any report that just repeats existing data does not deserve its own class in the domain model.</a:t>
            </a:r>
            <a:br>
              <a:rPr lang="en-US" sz="2400" dirty="0"/>
            </a:br>
            <a:r>
              <a:rPr lang="en-US" sz="2400" b="1" dirty="0"/>
              <a:t>3. Reason to INCLUDE Receipt   </a:t>
            </a:r>
            <a:r>
              <a:rPr lang="en-US" sz="2400" dirty="0" err="1"/>
              <a:t>Receipt</a:t>
            </a:r>
            <a:r>
              <a:rPr lang="en-US" sz="2400" dirty="0"/>
              <a:t> has a special business role — it gives the customer the legal right to return items.</a:t>
            </a:r>
            <a:br>
              <a:rPr lang="en-US" sz="2400" dirty="0"/>
            </a:br>
            <a:endParaRPr lang="en-US" sz="2400" dirty="0"/>
          </a:p>
        </p:txBody>
      </p:sp>
    </p:spTree>
    <p:extLst>
      <p:ext uri="{BB962C8B-B14F-4D97-AF65-F5344CB8AC3E}">
        <p14:creationId xmlns:p14="http://schemas.microsoft.com/office/powerpoint/2010/main" val="2321701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07" y="298716"/>
            <a:ext cx="11326762" cy="766916"/>
          </a:xfrm>
        </p:spPr>
        <p:txBody>
          <a:bodyPr/>
          <a:lstStyle/>
          <a:p>
            <a:r>
              <a:rPr lang="en-US" dirty="0"/>
              <a:t>Think like a Mapmaker ;Use Domain Model</a:t>
            </a:r>
          </a:p>
        </p:txBody>
      </p:sp>
      <p:sp>
        <p:nvSpPr>
          <p:cNvPr id="3" name="Content Placeholder 2"/>
          <p:cNvSpPr>
            <a:spLocks noGrp="1"/>
          </p:cNvSpPr>
          <p:nvPr>
            <p:ph sz="quarter" idx="10"/>
          </p:nvPr>
        </p:nvSpPr>
        <p:spPr>
          <a:xfrm>
            <a:off x="245807" y="1307690"/>
            <a:ext cx="11326762" cy="4087998"/>
          </a:xfrm>
        </p:spPr>
        <p:txBody>
          <a:bodyPr/>
          <a:lstStyle/>
          <a:p>
            <a:r>
              <a:rPr lang="en-US" dirty="0"/>
              <a:t>Use the existing names in the territory. </a:t>
            </a:r>
          </a:p>
          <a:p>
            <a:r>
              <a:rPr lang="en-US" dirty="0"/>
              <a:t>For example, if developing a model for a library, name the customer a "Borrower" or "Patron“ the terms used by the library staff.</a:t>
            </a:r>
          </a:p>
          <a:p>
            <a:r>
              <a:rPr lang="en-US" dirty="0"/>
              <a:t>Exclude irrelevant or out-of-scope features.</a:t>
            </a:r>
          </a:p>
          <a:p>
            <a:r>
              <a:rPr lang="en-US" dirty="0"/>
              <a:t> For example, in the Monopoly domain model for iteration-1, cards (such as the "Get out of Jail Free" card) are not used, so don't show a Card in the model this iteration.</a:t>
            </a:r>
          </a:p>
          <a:p>
            <a:endParaRPr lang="en-US" dirty="0"/>
          </a:p>
        </p:txBody>
      </p:sp>
    </p:spTree>
    <p:extLst>
      <p:ext uri="{BB962C8B-B14F-4D97-AF65-F5344CB8AC3E}">
        <p14:creationId xmlns:p14="http://schemas.microsoft.com/office/powerpoint/2010/main" val="2052309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2" y="66490"/>
            <a:ext cx="11189110" cy="914400"/>
          </a:xfrm>
        </p:spPr>
        <p:txBody>
          <a:bodyPr/>
          <a:lstStyle/>
          <a:p>
            <a:r>
              <a:rPr lang="en-US" dirty="0"/>
              <a:t>How to Model the Unreal World?</a:t>
            </a:r>
          </a:p>
        </p:txBody>
      </p:sp>
      <p:sp>
        <p:nvSpPr>
          <p:cNvPr id="3" name="Content Placeholder 2"/>
          <p:cNvSpPr>
            <a:spLocks noGrp="1"/>
          </p:cNvSpPr>
          <p:nvPr>
            <p:ph sz="quarter" idx="10"/>
          </p:nvPr>
        </p:nvSpPr>
        <p:spPr>
          <a:xfrm>
            <a:off x="265472" y="1091381"/>
            <a:ext cx="11405418" cy="4304307"/>
          </a:xfrm>
        </p:spPr>
        <p:txBody>
          <a:bodyPr/>
          <a:lstStyle/>
          <a:p>
            <a:r>
              <a:rPr lang="en-US" dirty="0"/>
              <a:t>Some software systems are for domains that find very little analogy in natural or business domains; software for telecommunications is an example. Yet it is still possible to create a domain model in these domains. It requires a high degree of abstraction, stepping back from familiar non-OO designs, and listening carefully to the core vocabulary and concepts that domain experts use.</a:t>
            </a:r>
          </a:p>
          <a:p>
            <a:endParaRPr lang="en-US" dirty="0"/>
          </a:p>
          <a:p>
            <a:r>
              <a:rPr lang="en-US" dirty="0"/>
              <a:t>For example, here are candidate conceptual classes related to the domain of a telecommunication switch: Message, Connection, Port, Dialog, Route, Protocol.</a:t>
            </a:r>
          </a:p>
        </p:txBody>
      </p:sp>
      <p:sp>
        <p:nvSpPr>
          <p:cNvPr id="4" name="Slide Number Placeholder 3"/>
          <p:cNvSpPr>
            <a:spLocks noGrp="1"/>
          </p:cNvSpPr>
          <p:nvPr>
            <p:ph type="sldNum" sz="quarter" idx="4"/>
          </p:nvPr>
        </p:nvSpPr>
        <p:spPr/>
        <p:txBody>
          <a:bodyPr/>
          <a:lstStyle/>
          <a:p>
            <a:fld id="{58FB4751-880F-D840-AAA9-3A15815CC996}" type="slidenum">
              <a:rPr lang="en-US" smtClean="0"/>
              <a:pPr/>
              <a:t>26</a:t>
            </a:fld>
            <a:endParaRPr lang="en-US" dirty="0"/>
          </a:p>
        </p:txBody>
      </p:sp>
    </p:spTree>
    <p:extLst>
      <p:ext uri="{BB962C8B-B14F-4D97-AF65-F5344CB8AC3E}">
        <p14:creationId xmlns:p14="http://schemas.microsoft.com/office/powerpoint/2010/main" val="148839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51" y="-589936"/>
            <a:ext cx="10510684" cy="1179871"/>
          </a:xfrm>
        </p:spPr>
        <p:txBody>
          <a:bodyPr/>
          <a:lstStyle/>
          <a:p>
            <a:r>
              <a:rPr lang="en-US" dirty="0"/>
              <a:t>A Common Mistake with Attributes vs. Classes</a:t>
            </a:r>
          </a:p>
        </p:txBody>
      </p:sp>
      <p:sp>
        <p:nvSpPr>
          <p:cNvPr id="3" name="Content Placeholder 2"/>
          <p:cNvSpPr>
            <a:spLocks noGrp="1"/>
          </p:cNvSpPr>
          <p:nvPr>
            <p:ph sz="quarter" idx="10"/>
          </p:nvPr>
        </p:nvSpPr>
        <p:spPr>
          <a:xfrm>
            <a:off x="0" y="589935"/>
            <a:ext cx="12192000" cy="5987846"/>
          </a:xfrm>
        </p:spPr>
        <p:txBody>
          <a:bodyPr/>
          <a:lstStyle/>
          <a:p>
            <a:r>
              <a:rPr lang="en-US" dirty="0"/>
              <a:t>Perhaps the most common mistake when creating a domain model is to represent something as an attribute when it should have been a conceptual class. A rule of thumb to help prevent this mistake is</a:t>
            </a:r>
          </a:p>
          <a:p>
            <a:r>
              <a:rPr lang="en-US" dirty="0"/>
              <a:t>Guideline: </a:t>
            </a:r>
          </a:p>
          <a:p>
            <a:r>
              <a:rPr lang="en-US" dirty="0"/>
              <a:t>If we do not think of some conceptual class X as a number or text in the real world, X is probably a         conceptual class, not an attribute.</a:t>
            </a:r>
          </a:p>
          <a:p>
            <a:pPr marL="0" indent="0">
              <a:buNone/>
            </a:pPr>
            <a:endParaRPr lang="en-US" dirty="0"/>
          </a:p>
          <a:p>
            <a:endParaRPr lang="en-US" dirty="0"/>
          </a:p>
        </p:txBody>
      </p:sp>
      <p:sp>
        <p:nvSpPr>
          <p:cNvPr id="4" name="Slide Number Placeholder 3"/>
          <p:cNvSpPr>
            <a:spLocks noGrp="1"/>
          </p:cNvSpPr>
          <p:nvPr>
            <p:ph type="sldNum" sz="quarter" idx="4"/>
          </p:nvPr>
        </p:nvSpPr>
        <p:spPr/>
        <p:txBody>
          <a:bodyPr/>
          <a:lstStyle/>
          <a:p>
            <a:fld id="{58FB4751-880F-D840-AAA9-3A15815CC996}" type="slidenum">
              <a:rPr lang="en-US" smtClean="0"/>
              <a:pPr/>
              <a:t>27</a:t>
            </a:fld>
            <a:endParaRPr lang="en-US" dirty="0"/>
          </a:p>
        </p:txBody>
      </p:sp>
      <p:pic>
        <p:nvPicPr>
          <p:cNvPr id="5" name="Picture 4"/>
          <p:cNvPicPr>
            <a:picLocks noChangeAspect="1"/>
          </p:cNvPicPr>
          <p:nvPr/>
        </p:nvPicPr>
        <p:blipFill>
          <a:blip r:embed="rId2"/>
          <a:stretch>
            <a:fillRect/>
          </a:stretch>
        </p:blipFill>
        <p:spPr>
          <a:xfrm>
            <a:off x="255638" y="2426408"/>
            <a:ext cx="11572567" cy="771633"/>
          </a:xfrm>
          <a:prstGeom prst="rect">
            <a:avLst/>
          </a:prstGeom>
        </p:spPr>
      </p:pic>
      <p:sp>
        <p:nvSpPr>
          <p:cNvPr id="6" name="Rectangle 5"/>
          <p:cNvSpPr/>
          <p:nvPr/>
        </p:nvSpPr>
        <p:spPr>
          <a:xfrm>
            <a:off x="255639" y="3379442"/>
            <a:ext cx="11759577" cy="923330"/>
          </a:xfrm>
          <a:prstGeom prst="rect">
            <a:avLst/>
          </a:prstGeom>
        </p:spPr>
        <p:txBody>
          <a:bodyPr wrap="square">
            <a:spAutoFit/>
          </a:bodyPr>
          <a:lstStyle/>
          <a:p>
            <a:r>
              <a:rPr lang="en-US" dirty="0"/>
              <a:t>In the real world, a store is not considered a number or text the term suggests a legal entity, an organization, and something that occupies space. Therefore, Store should be a conceptual class.</a:t>
            </a:r>
          </a:p>
          <a:p>
            <a:endParaRPr lang="en-US" dirty="0"/>
          </a:p>
        </p:txBody>
      </p:sp>
      <p:pic>
        <p:nvPicPr>
          <p:cNvPr id="7" name="Picture 6"/>
          <p:cNvPicPr>
            <a:picLocks noChangeAspect="1"/>
          </p:cNvPicPr>
          <p:nvPr/>
        </p:nvPicPr>
        <p:blipFill>
          <a:blip r:embed="rId3"/>
          <a:stretch>
            <a:fillRect/>
          </a:stretch>
        </p:blipFill>
        <p:spPr>
          <a:xfrm>
            <a:off x="255639" y="4099281"/>
            <a:ext cx="11572567" cy="666843"/>
          </a:xfrm>
          <a:prstGeom prst="rect">
            <a:avLst/>
          </a:prstGeom>
        </p:spPr>
      </p:pic>
      <p:sp>
        <p:nvSpPr>
          <p:cNvPr id="8" name="Rectangle 7"/>
          <p:cNvSpPr/>
          <p:nvPr/>
        </p:nvSpPr>
        <p:spPr>
          <a:xfrm>
            <a:off x="255639" y="5002641"/>
            <a:ext cx="11572567" cy="1200329"/>
          </a:xfrm>
          <a:prstGeom prst="rect">
            <a:avLst/>
          </a:prstGeom>
        </p:spPr>
        <p:txBody>
          <a:bodyPr wrap="square">
            <a:spAutoFit/>
          </a:bodyPr>
          <a:lstStyle/>
          <a:p>
            <a:r>
              <a:rPr lang="en-US" dirty="0"/>
              <a:t>As another example, consider the domain of airline reservations. Should destination be an attribute of Flight, or a separate conceptual class Airport?</a:t>
            </a:r>
          </a:p>
          <a:p>
            <a:r>
              <a:rPr lang="en-US" dirty="0"/>
              <a:t>In the real world, a destination airport is not considered a number or text it is a massive thing that occupies space. Therefore, Airport should be a concept.</a:t>
            </a:r>
          </a:p>
        </p:txBody>
      </p:sp>
    </p:spTree>
    <p:extLst>
      <p:ext uri="{BB962C8B-B14F-4D97-AF65-F5344CB8AC3E}">
        <p14:creationId xmlns:p14="http://schemas.microsoft.com/office/powerpoint/2010/main" val="418039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61" y="137652"/>
            <a:ext cx="7534656" cy="914400"/>
          </a:xfrm>
        </p:spPr>
        <p:txBody>
          <a:bodyPr/>
          <a:lstStyle/>
          <a:p>
            <a:r>
              <a:rPr lang="en-US" b="1" dirty="0"/>
              <a:t>Description Classes </a:t>
            </a:r>
          </a:p>
        </p:txBody>
      </p:sp>
      <p:sp>
        <p:nvSpPr>
          <p:cNvPr id="3" name="Content Placeholder 2"/>
          <p:cNvSpPr>
            <a:spLocks noGrp="1"/>
          </p:cNvSpPr>
          <p:nvPr>
            <p:ph sz="quarter" idx="10"/>
          </p:nvPr>
        </p:nvSpPr>
        <p:spPr>
          <a:xfrm>
            <a:off x="49161" y="1209368"/>
            <a:ext cx="11012129" cy="5329084"/>
          </a:xfrm>
        </p:spPr>
        <p:txBody>
          <a:bodyPr>
            <a:normAutofit lnSpcReduction="10000"/>
          </a:bodyPr>
          <a:lstStyle/>
          <a:p>
            <a:pPr marL="0" lvl="0" indent="0" eaLnBrk="0" fontAlgn="base" hangingPunct="0">
              <a:lnSpc>
                <a:spcPct val="100000"/>
              </a:lnSpc>
              <a:spcBef>
                <a:spcPct val="0"/>
              </a:spcBef>
              <a:spcAft>
                <a:spcPct val="0"/>
              </a:spcAft>
              <a:buNone/>
            </a:pPr>
            <a:r>
              <a:rPr lang="en-US" altLang="en-US" sz="2800" dirty="0">
                <a:latin typeface="Times New Roman" panose="02020603050405020304" pitchFamily="18" charset="0"/>
                <a:cs typeface="Times New Roman" panose="02020603050405020304" pitchFamily="18" charset="0"/>
              </a:rPr>
              <a:t>A description class stores shared information about many similar objects. it separates general details</a:t>
            </a:r>
          </a:p>
          <a:p>
            <a:pPr marL="0" lvl="0" indent="0" eaLnBrk="0" fontAlgn="base" hangingPunct="0">
              <a:lnSpc>
                <a:spcPct val="100000"/>
              </a:lnSpc>
              <a:spcBef>
                <a:spcPct val="0"/>
              </a:spcBef>
              <a:spcAft>
                <a:spcPct val="0"/>
              </a:spcAft>
              <a:buNone/>
            </a:pPr>
            <a:r>
              <a:rPr lang="en-US" altLang="en-US" sz="2800" dirty="0">
                <a:latin typeface="Times New Roman" panose="02020603050405020304" pitchFamily="18" charset="0"/>
                <a:cs typeface="Times New Roman" panose="02020603050405020304" pitchFamily="18" charset="0"/>
              </a:rPr>
              <a:t> from specific instances. </a:t>
            </a:r>
          </a:p>
          <a:p>
            <a:pPr marL="0" lvl="0" indent="0" eaLnBrk="0" fontAlgn="base" hangingPunct="0">
              <a:lnSpc>
                <a:spcPct val="100000"/>
              </a:lnSpc>
              <a:spcBef>
                <a:spcPct val="0"/>
              </a:spcBef>
              <a:spcAft>
                <a:spcPct val="0"/>
              </a:spcAft>
              <a:buNone/>
            </a:pPr>
            <a:endParaRPr lang="en-US" altLang="en-US" sz="2800" dirty="0">
              <a:latin typeface="Arial" panose="020B0604020202020204" pitchFamily="34" charset="0"/>
            </a:endParaRPr>
          </a:p>
          <a:p>
            <a:pPr marL="0" indent="0" eaLnBrk="0" fontAlgn="base" hangingPunct="0">
              <a:lnSpc>
                <a:spcPct val="100000"/>
              </a:lnSpc>
              <a:spcBef>
                <a:spcPct val="0"/>
              </a:spcBef>
              <a:spcAft>
                <a:spcPct val="0"/>
              </a:spcAft>
              <a:buNone/>
            </a:pPr>
            <a:r>
              <a:rPr lang="en-US" sz="2800" b="1" dirty="0"/>
              <a:t>Why we use it</a:t>
            </a:r>
          </a:p>
          <a:p>
            <a:r>
              <a:rPr lang="en-US" sz="2400" dirty="0">
                <a:latin typeface="Times New Roman" panose="02020603050405020304" pitchFamily="18" charset="0"/>
                <a:cs typeface="Times New Roman" panose="02020603050405020304" pitchFamily="18" charset="0"/>
              </a:rPr>
              <a:t>Real-world objects have:</a:t>
            </a:r>
          </a:p>
          <a:p>
            <a:r>
              <a:rPr lang="en-US" sz="2400" dirty="0">
                <a:latin typeface="Times New Roman" panose="02020603050405020304" pitchFamily="18" charset="0"/>
                <a:cs typeface="Times New Roman" panose="02020603050405020304" pitchFamily="18" charset="0"/>
              </a:rPr>
              <a:t>Common data (shared) </a:t>
            </a:r>
          </a:p>
          <a:p>
            <a:r>
              <a:rPr lang="en-US" sz="2400" dirty="0">
                <a:latin typeface="Times New Roman" panose="02020603050405020304" pitchFamily="18" charset="0"/>
                <a:cs typeface="Times New Roman" panose="02020603050405020304" pitchFamily="18" charset="0"/>
              </a:rPr>
              <a:t>Unique data</a:t>
            </a:r>
          </a:p>
          <a:p>
            <a:pPr marL="0" indent="0">
              <a:buNone/>
            </a:pPr>
            <a:endParaRPr lang="en-US" sz="24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None/>
            </a:pPr>
            <a:r>
              <a:rPr lang="en-US" sz="2800" b="1" dirty="0"/>
              <a:t>Example</a:t>
            </a:r>
          </a:p>
          <a:p>
            <a:pPr marL="0" lvl="0" indent="0" eaLnBrk="0" fontAlgn="base" hangingPunct="0">
              <a:spcBef>
                <a:spcPct val="0"/>
              </a:spcBef>
              <a:spcAft>
                <a:spcPct val="0"/>
              </a:spcAft>
              <a:buNone/>
            </a:pPr>
            <a:endParaRPr lang="en-US" altLang="en-US" sz="2800" b="1" i="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600" i="1" dirty="0">
                <a:latin typeface="Times New Roman" panose="02020603050405020304" pitchFamily="18" charset="0"/>
                <a:cs typeface="Times New Roman" panose="02020603050405020304" pitchFamily="18" charset="0"/>
              </a:rPr>
              <a:t>Item (physical object)</a:t>
            </a:r>
            <a:r>
              <a:rPr lang="en-US" altLang="en-US" sz="2600" dirty="0">
                <a:latin typeface="Times New Roman" panose="02020603050405020304" pitchFamily="18" charset="0"/>
                <a:cs typeface="Times New Roman" panose="02020603050405020304" pitchFamily="18" charset="0"/>
              </a:rPr>
              <a:t> → serial number (unique) </a:t>
            </a:r>
          </a:p>
          <a:p>
            <a:pPr marL="0" lvl="0" indent="0" eaLnBrk="0" fontAlgn="base" hangingPunct="0">
              <a:lnSpc>
                <a:spcPct val="100000"/>
              </a:lnSpc>
              <a:spcBef>
                <a:spcPct val="0"/>
              </a:spcBef>
              <a:spcAft>
                <a:spcPct val="0"/>
              </a:spcAft>
              <a:buFontTx/>
              <a:buChar char="•"/>
            </a:pPr>
            <a:r>
              <a:rPr lang="en-US" altLang="en-US" sz="2600" i="1" dirty="0" err="1">
                <a:latin typeface="Times New Roman" panose="02020603050405020304" pitchFamily="18" charset="0"/>
                <a:cs typeface="Times New Roman" panose="02020603050405020304" pitchFamily="18" charset="0"/>
              </a:rPr>
              <a:t>ProductDescription</a:t>
            </a:r>
            <a:r>
              <a:rPr lang="en-US" altLang="en-US" sz="2600" dirty="0">
                <a:latin typeface="Times New Roman" panose="02020603050405020304" pitchFamily="18" charset="0"/>
                <a:cs typeface="Times New Roman" panose="02020603050405020304" pitchFamily="18" charset="0"/>
              </a:rPr>
              <a:t> → name, price (common) </a:t>
            </a:r>
          </a:p>
          <a:p>
            <a:pPr marL="0" indent="0" eaLnBrk="0" fontAlgn="base" hangingPunct="0">
              <a:lnSpc>
                <a:spcPct val="100000"/>
              </a:lnSpc>
              <a:spcBef>
                <a:spcPct val="0"/>
              </a:spcBef>
              <a:spcAft>
                <a:spcPct val="0"/>
              </a:spcAft>
              <a:buNone/>
            </a:pPr>
            <a:endParaRPr lang="en-US" sz="26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endParaRPr lang="en-US" altLang="en-US" sz="2800" dirty="0">
              <a:latin typeface="Arial" panose="020B0604020202020204" pitchFamily="34" charset="0"/>
            </a:endParaRPr>
          </a:p>
        </p:txBody>
      </p:sp>
      <p:sp>
        <p:nvSpPr>
          <p:cNvPr id="4" name="Slide Number Placeholder 3"/>
          <p:cNvSpPr>
            <a:spLocks noGrp="1"/>
          </p:cNvSpPr>
          <p:nvPr>
            <p:ph type="sldNum" sz="quarter" idx="4"/>
          </p:nvPr>
        </p:nvSpPr>
        <p:spPr/>
        <p:txBody>
          <a:bodyPr/>
          <a:lstStyle/>
          <a:p>
            <a:fld id="{58FB4751-880F-D840-AAA9-3A15815CC996}" type="slidenum">
              <a:rPr lang="en-US" smtClean="0"/>
              <a:pPr/>
              <a:t>28</a:t>
            </a:fld>
            <a:endParaRPr lang="en-US" dirty="0"/>
          </a:p>
        </p:txBody>
      </p:sp>
    </p:spTree>
    <p:extLst>
      <p:ext uri="{BB962C8B-B14F-4D97-AF65-F5344CB8AC3E}">
        <p14:creationId xmlns:p14="http://schemas.microsoft.com/office/powerpoint/2010/main" val="1423434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78657" y="324465"/>
            <a:ext cx="9419303" cy="6533535"/>
          </a:xfrm>
        </p:spPr>
        <p:txBody>
          <a:bodyPr>
            <a:normAutofit/>
          </a:bodyPr>
          <a:lstStyle/>
          <a:p>
            <a:pPr marL="0" indent="0">
              <a:buNone/>
            </a:pPr>
            <a:r>
              <a:rPr lang="en-US" b="1" dirty="0"/>
              <a:t>When to Use Description Classes</a:t>
            </a:r>
          </a:p>
          <a:p>
            <a:pPr marL="0" indent="0">
              <a:buNone/>
            </a:pPr>
            <a:endParaRPr lang="en-US" dirty="0"/>
          </a:p>
          <a:p>
            <a:r>
              <a:rPr lang="en-US" sz="2400" dirty="0">
                <a:latin typeface="Times New Roman" panose="02020603050405020304" pitchFamily="18" charset="0"/>
                <a:cs typeface="Times New Roman" panose="02020603050405020304" pitchFamily="18" charset="0"/>
              </a:rPr>
              <a:t>Many objects share same attributes</a:t>
            </a:r>
          </a:p>
          <a:p>
            <a:r>
              <a:rPr lang="en-US" sz="2400" dirty="0">
                <a:latin typeface="Times New Roman" panose="02020603050405020304" pitchFamily="18" charset="0"/>
                <a:cs typeface="Times New Roman" panose="02020603050405020304" pitchFamily="18" charset="0"/>
              </a:rPr>
              <a:t>System returns lists of similar items</a:t>
            </a:r>
          </a:p>
          <a:p>
            <a:r>
              <a:rPr lang="en-US" sz="2400" dirty="0">
                <a:latin typeface="Times New Roman" panose="02020603050405020304" pitchFamily="18" charset="0"/>
                <a:cs typeface="Times New Roman" panose="02020603050405020304" pitchFamily="18" charset="0"/>
              </a:rPr>
              <a:t>You want to reduce duplication</a:t>
            </a:r>
          </a:p>
          <a:p>
            <a:r>
              <a:rPr lang="en-US" sz="2400" dirty="0">
                <a:latin typeface="Times New Roman" panose="02020603050405020304" pitchFamily="18" charset="0"/>
                <a:cs typeface="Times New Roman" panose="02020603050405020304" pitchFamily="18" charset="0"/>
              </a:rPr>
              <a:t>Information is independent of instances</a:t>
            </a:r>
            <a:endParaRPr lang="en-US" altLang="en-US" sz="2400" dirty="0">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None/>
            </a:pPr>
            <a:endParaRPr lang="en-US" altLang="en-US" dirty="0">
              <a:latin typeface="Arial" panose="020B0604020202020204" pitchFamily="34" charset="0"/>
            </a:endParaRPr>
          </a:p>
          <a:p>
            <a:pPr marL="0" indent="0" eaLnBrk="0" fontAlgn="base" hangingPunct="0">
              <a:lnSpc>
                <a:spcPct val="150000"/>
              </a:lnSpc>
              <a:spcBef>
                <a:spcPct val="0"/>
              </a:spcBef>
              <a:spcAft>
                <a:spcPct val="0"/>
              </a:spcAft>
              <a:buNone/>
            </a:pPr>
            <a:r>
              <a:rPr lang="en-US" b="1" dirty="0"/>
              <a:t>Problem Without It</a:t>
            </a:r>
            <a:endParaRPr lang="en-US" dirty="0"/>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Data repetition (redundancy) </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Hard to update (same info in many places) </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Inconsistency errors </a:t>
            </a:r>
          </a:p>
          <a:p>
            <a:pPr marL="0" lvl="0" indent="0" eaLnBrk="0" fontAlgn="base" hangingPunct="0">
              <a:lnSpc>
                <a:spcPct val="150000"/>
              </a:lnSpc>
              <a:spcBef>
                <a:spcPct val="0"/>
              </a:spcBef>
              <a:spcAft>
                <a:spcPct val="0"/>
              </a:spcAft>
              <a:buNone/>
            </a:pPr>
            <a:endParaRPr lang="en-US" b="1" dirty="0">
              <a:latin typeface="Arial" panose="020B0604020202020204" pitchFamily="34" charset="0"/>
            </a:endParaRPr>
          </a:p>
          <a:p>
            <a:pPr marL="0" lvl="0" indent="0" eaLnBrk="0" fontAlgn="base" hangingPunct="0">
              <a:lnSpc>
                <a:spcPct val="150000"/>
              </a:lnSpc>
              <a:spcBef>
                <a:spcPct val="0"/>
              </a:spcBef>
              <a:spcAft>
                <a:spcPct val="0"/>
              </a:spcAft>
              <a:buNone/>
            </a:pPr>
            <a:endParaRPr lang="en-US" sz="2800" dirty="0"/>
          </a:p>
        </p:txBody>
      </p:sp>
      <p:sp>
        <p:nvSpPr>
          <p:cNvPr id="4" name="Slide Number Placeholder 3"/>
          <p:cNvSpPr>
            <a:spLocks noGrp="1"/>
          </p:cNvSpPr>
          <p:nvPr>
            <p:ph type="sldNum" sz="quarter" idx="4"/>
          </p:nvPr>
        </p:nvSpPr>
        <p:spPr/>
        <p:txBody>
          <a:bodyPr/>
          <a:lstStyle/>
          <a:p>
            <a:fld id="{58FB4751-880F-D840-AAA9-3A15815CC996}" type="slidenum">
              <a:rPr lang="en-US" smtClean="0"/>
              <a:pPr/>
              <a:t>29</a:t>
            </a:fld>
            <a:endParaRPr lang="en-US" dirty="0"/>
          </a:p>
        </p:txBody>
      </p:sp>
    </p:spTree>
    <p:extLst>
      <p:ext uri="{BB962C8B-B14F-4D97-AF65-F5344CB8AC3E}">
        <p14:creationId xmlns:p14="http://schemas.microsoft.com/office/powerpoint/2010/main" val="1350275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30</a:t>
            </a:fld>
            <a:endParaRPr lang="en-US" dirty="0"/>
          </a:p>
        </p:txBody>
      </p:sp>
      <p:pic>
        <p:nvPicPr>
          <p:cNvPr id="3" name="Picture 2"/>
          <p:cNvPicPr>
            <a:picLocks noChangeAspect="1"/>
          </p:cNvPicPr>
          <p:nvPr/>
        </p:nvPicPr>
        <p:blipFill>
          <a:blip r:embed="rId2"/>
          <a:stretch>
            <a:fillRect/>
          </a:stretch>
        </p:blipFill>
        <p:spPr>
          <a:xfrm>
            <a:off x="1810215" y="430013"/>
            <a:ext cx="8867617" cy="6345690"/>
          </a:xfrm>
          <a:prstGeom prst="rect">
            <a:avLst/>
          </a:prstGeom>
        </p:spPr>
      </p:pic>
      <p:sp>
        <p:nvSpPr>
          <p:cNvPr id="4" name="Rectangle 3"/>
          <p:cNvSpPr/>
          <p:nvPr/>
        </p:nvSpPr>
        <p:spPr>
          <a:xfrm>
            <a:off x="0" y="143601"/>
            <a:ext cx="1879041" cy="523220"/>
          </a:xfrm>
          <a:prstGeom prst="rect">
            <a:avLst/>
          </a:prstGeom>
        </p:spPr>
        <p:txBody>
          <a:bodyPr wrap="none">
            <a:spAutoFit/>
          </a:bodyPr>
          <a:lstStyle/>
          <a:p>
            <a:r>
              <a:rPr lang="en-US" sz="2800" dirty="0">
                <a:latin typeface="Arial Black" panose="020B0A04020102020204" pitchFamily="34" charset="0"/>
              </a:rPr>
              <a:t>Example</a:t>
            </a:r>
          </a:p>
        </p:txBody>
      </p:sp>
    </p:spTree>
    <p:extLst>
      <p:ext uri="{BB962C8B-B14F-4D97-AF65-F5344CB8AC3E}">
        <p14:creationId xmlns:p14="http://schemas.microsoft.com/office/powerpoint/2010/main" val="2095895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31</a:t>
            </a:fld>
            <a:endParaRPr lang="en-US" dirty="0"/>
          </a:p>
        </p:txBody>
      </p:sp>
      <p:pic>
        <p:nvPicPr>
          <p:cNvPr id="3" name="Picture 2"/>
          <p:cNvPicPr>
            <a:picLocks noChangeAspect="1"/>
          </p:cNvPicPr>
          <p:nvPr/>
        </p:nvPicPr>
        <p:blipFill>
          <a:blip r:embed="rId2"/>
          <a:stretch>
            <a:fillRect/>
          </a:stretch>
        </p:blipFill>
        <p:spPr>
          <a:xfrm>
            <a:off x="2053471" y="297559"/>
            <a:ext cx="8427716" cy="6363588"/>
          </a:xfrm>
          <a:prstGeom prst="rect">
            <a:avLst/>
          </a:prstGeom>
        </p:spPr>
      </p:pic>
      <p:sp>
        <p:nvSpPr>
          <p:cNvPr id="4" name="Rectangle 3"/>
          <p:cNvSpPr/>
          <p:nvPr/>
        </p:nvSpPr>
        <p:spPr>
          <a:xfrm>
            <a:off x="-86748" y="297559"/>
            <a:ext cx="1879041" cy="523220"/>
          </a:xfrm>
          <a:prstGeom prst="rect">
            <a:avLst/>
          </a:prstGeom>
        </p:spPr>
        <p:txBody>
          <a:bodyPr wrap="none">
            <a:spAutoFit/>
          </a:bodyPr>
          <a:lstStyle/>
          <a:p>
            <a:r>
              <a:rPr lang="en-US" sz="2800" dirty="0">
                <a:latin typeface="Arial Black" panose="020B0A04020102020204" pitchFamily="34" charset="0"/>
              </a:rPr>
              <a:t>Example</a:t>
            </a:r>
          </a:p>
        </p:txBody>
      </p:sp>
    </p:spTree>
    <p:extLst>
      <p:ext uri="{BB962C8B-B14F-4D97-AF65-F5344CB8AC3E}">
        <p14:creationId xmlns:p14="http://schemas.microsoft.com/office/powerpoint/2010/main" val="1506570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033"/>
            <a:ext cx="7534656" cy="914400"/>
          </a:xfrm>
        </p:spPr>
        <p:txBody>
          <a:bodyPr/>
          <a:lstStyle/>
          <a:p>
            <a:r>
              <a:rPr lang="en-US" b="1" dirty="0">
                <a:latin typeface="Arial Black" panose="020B0A04020102020204" pitchFamily="34" charset="0"/>
              </a:rPr>
              <a:t>Associations</a:t>
            </a:r>
          </a:p>
        </p:txBody>
      </p:sp>
      <p:sp>
        <p:nvSpPr>
          <p:cNvPr id="3" name="Content Placeholder 2"/>
          <p:cNvSpPr>
            <a:spLocks noGrp="1"/>
          </p:cNvSpPr>
          <p:nvPr>
            <p:ph sz="quarter" idx="10"/>
          </p:nvPr>
        </p:nvSpPr>
        <p:spPr>
          <a:xfrm>
            <a:off x="0" y="1994592"/>
            <a:ext cx="7150608" cy="563490"/>
          </a:xfrm>
        </p:spPr>
        <p:txBody>
          <a:bodyPr>
            <a:normAutofit/>
          </a:bodyPr>
          <a:lstStyle/>
          <a:p>
            <a:pPr marL="0" indent="0">
              <a:buNone/>
            </a:pPr>
            <a:r>
              <a:rPr lang="en-US" sz="2400" dirty="0">
                <a:latin typeface="Arial Black" panose="020B0A04020102020204" pitchFamily="34" charset="0"/>
              </a:rPr>
              <a:t>When to Show an Association</a:t>
            </a:r>
          </a:p>
        </p:txBody>
      </p:sp>
      <p:sp>
        <p:nvSpPr>
          <p:cNvPr id="4" name="Slide Number Placeholder 3"/>
          <p:cNvSpPr>
            <a:spLocks noGrp="1"/>
          </p:cNvSpPr>
          <p:nvPr>
            <p:ph type="sldNum" sz="quarter" idx="4"/>
          </p:nvPr>
        </p:nvSpPr>
        <p:spPr/>
        <p:txBody>
          <a:bodyPr/>
          <a:lstStyle/>
          <a:p>
            <a:fld id="{58FB4751-880F-D840-AAA9-3A15815CC996}" type="slidenum">
              <a:rPr lang="en-US" smtClean="0"/>
              <a:pPr/>
              <a:t>32</a:t>
            </a:fld>
            <a:endParaRPr lang="en-US" dirty="0"/>
          </a:p>
        </p:txBody>
      </p:sp>
      <p:sp>
        <p:nvSpPr>
          <p:cNvPr id="6" name="TextBox 5"/>
          <p:cNvSpPr txBox="1"/>
          <p:nvPr/>
        </p:nvSpPr>
        <p:spPr>
          <a:xfrm flipH="1">
            <a:off x="0" y="842181"/>
            <a:ext cx="10677833" cy="110799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Association is a relationship between two or more </a:t>
            </a:r>
            <a:r>
              <a:rPr lang="en-US" sz="2400" dirty="0" err="1">
                <a:latin typeface="Times New Roman" panose="02020603050405020304" pitchFamily="18" charset="0"/>
                <a:cs typeface="Times New Roman" panose="02020603050405020304" pitchFamily="18" charset="0"/>
              </a:rPr>
              <a:t>classes.Shows</a:t>
            </a:r>
            <a:r>
              <a:rPr lang="en-US" sz="2400" dirty="0">
                <a:latin typeface="Times New Roman" panose="02020603050405020304" pitchFamily="18" charset="0"/>
                <a:cs typeface="Times New Roman" panose="02020603050405020304" pitchFamily="18" charset="0"/>
              </a:rPr>
              <a:t> how objects are connected or interact with each other </a:t>
            </a:r>
          </a:p>
          <a:p>
            <a:endParaRPr lang="en-US" dirty="0"/>
          </a:p>
        </p:txBody>
      </p:sp>
      <p:sp>
        <p:nvSpPr>
          <p:cNvPr id="7" name="TextBox 6"/>
          <p:cNvSpPr txBox="1"/>
          <p:nvPr/>
        </p:nvSpPr>
        <p:spPr>
          <a:xfrm>
            <a:off x="0" y="2485353"/>
            <a:ext cx="8170605" cy="1107996"/>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When the relationship needs to be remembered or stored </a:t>
            </a: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When objects need to communicate or work together </a:t>
            </a:r>
          </a:p>
          <a:p>
            <a:endParaRPr lang="en-US" dirty="0"/>
          </a:p>
        </p:txBody>
      </p:sp>
      <p:sp>
        <p:nvSpPr>
          <p:cNvPr id="8" name="Rectangle 7"/>
          <p:cNvSpPr/>
          <p:nvPr/>
        </p:nvSpPr>
        <p:spPr>
          <a:xfrm>
            <a:off x="0" y="3510047"/>
            <a:ext cx="6096000" cy="2000548"/>
          </a:xfrm>
          <a:prstGeom prst="rect">
            <a:avLst/>
          </a:prstGeom>
        </p:spPr>
        <p:txBody>
          <a:bodyPr>
            <a:spAutoFit/>
          </a:bodyPr>
          <a:lstStyle/>
          <a:p>
            <a:pPr lvl="0" eaLnBrk="0" fontAlgn="base" hangingPunct="0">
              <a:spcBef>
                <a:spcPct val="0"/>
              </a:spcBef>
              <a:spcAft>
                <a:spcPct val="0"/>
              </a:spcAft>
            </a:pPr>
            <a:r>
              <a:rPr lang="en-US" altLang="en-US" sz="2400" b="1" dirty="0">
                <a:latin typeface="Arial" panose="020B0604020202020204" pitchFamily="34" charset="0"/>
              </a:rPr>
              <a:t>Example</a:t>
            </a:r>
          </a:p>
          <a:p>
            <a:pPr lvl="0" eaLnBrk="0" fontAlgn="base" hangingPunct="0">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Student ↔ Course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 student enrolls in a course</a:t>
            </a:r>
          </a:p>
          <a:p>
            <a:pPr lvl="0" eaLnBrk="0" fontAlgn="base" hangingPunct="0">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Customer ↔ Order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customer places an order</a:t>
            </a:r>
            <a:endParaRPr lang="en-US" altLang="en-US" sz="2400" dirty="0">
              <a:latin typeface="Times New Roman" panose="02020603050405020304" pitchFamily="18" charset="0"/>
              <a:cs typeface="Times New Roman" panose="02020603050405020304" pitchFamily="18" charset="0"/>
            </a:endParaRPr>
          </a:p>
        </p:txBody>
      </p:sp>
      <p:sp>
        <p:nvSpPr>
          <p:cNvPr id="9" name="Rectangle 8"/>
          <p:cNvSpPr/>
          <p:nvPr/>
        </p:nvSpPr>
        <p:spPr>
          <a:xfrm>
            <a:off x="-72259" y="5648971"/>
            <a:ext cx="2486130" cy="461665"/>
          </a:xfrm>
          <a:prstGeom prst="rect">
            <a:avLst/>
          </a:prstGeom>
        </p:spPr>
        <p:txBody>
          <a:bodyPr wrap="none">
            <a:spAutoFit/>
          </a:bodyPr>
          <a:lstStyle/>
          <a:p>
            <a:r>
              <a:rPr lang="en-US" sz="2400" b="1" dirty="0">
                <a:latin typeface="Arial Black" panose="020B0A04020102020204" pitchFamily="34" charset="0"/>
              </a:rPr>
              <a:t>UML Notation</a:t>
            </a:r>
          </a:p>
        </p:txBody>
      </p:sp>
      <p:sp>
        <p:nvSpPr>
          <p:cNvPr id="10" name="Rectangle 9"/>
          <p:cNvSpPr/>
          <p:nvPr/>
        </p:nvSpPr>
        <p:spPr>
          <a:xfrm>
            <a:off x="0" y="6096920"/>
            <a:ext cx="5767926" cy="461665"/>
          </a:xfrm>
          <a:prstGeom prst="rect">
            <a:avLst/>
          </a:prstGeom>
        </p:spPr>
        <p:txBody>
          <a:bodyPr wrap="none">
            <a:spAutoFit/>
          </a:bodyPr>
          <a:lstStyle/>
          <a:p>
            <a:r>
              <a:rPr lang="en-US" sz="2400" dirty="0">
                <a:latin typeface="Times New Roman" panose="02020603050405020304" pitchFamily="18" charset="0"/>
                <a:cs typeface="Times New Roman" panose="02020603050405020304" pitchFamily="18" charset="0"/>
              </a:rPr>
              <a:t>Represented by a simple line between classes</a:t>
            </a:r>
          </a:p>
        </p:txBody>
      </p:sp>
    </p:spTree>
    <p:extLst>
      <p:ext uri="{BB962C8B-B14F-4D97-AF65-F5344CB8AC3E}">
        <p14:creationId xmlns:p14="http://schemas.microsoft.com/office/powerpoint/2010/main" val="4107797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6310"/>
            <a:ext cx="7534656" cy="914400"/>
          </a:xfrm>
        </p:spPr>
        <p:txBody>
          <a:bodyPr/>
          <a:lstStyle/>
          <a:p>
            <a:r>
              <a:rPr lang="en-US" sz="2800" b="1" dirty="0">
                <a:latin typeface="Arial Black" panose="020B0A04020102020204" pitchFamily="34" charset="0"/>
              </a:rPr>
              <a:t>Roles and Multiplicity</a:t>
            </a:r>
          </a:p>
        </p:txBody>
      </p:sp>
      <p:sp>
        <p:nvSpPr>
          <p:cNvPr id="3" name="Content Placeholder 2"/>
          <p:cNvSpPr>
            <a:spLocks noGrp="1"/>
          </p:cNvSpPr>
          <p:nvPr>
            <p:ph sz="quarter" idx="10"/>
          </p:nvPr>
        </p:nvSpPr>
        <p:spPr>
          <a:xfrm>
            <a:off x="117986" y="698090"/>
            <a:ext cx="12074013" cy="6077613"/>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In an association, each end is called a role. A role may include a name, multiplicity, and navigability. These help define how classes are connected.</a:t>
            </a:r>
          </a:p>
          <a:p>
            <a:pPr marL="0" indent="0">
              <a:buNone/>
            </a:pPr>
            <a:r>
              <a:rPr lang="en-US" sz="2800" dirty="0">
                <a:latin typeface="Times New Roman" panose="02020603050405020304" pitchFamily="18" charset="0"/>
                <a:cs typeface="Times New Roman" panose="02020603050405020304" pitchFamily="18" charset="0"/>
              </a:rPr>
              <a:t>Multiplicity is very important because it shows how many instances of one class can be related to another class.</a:t>
            </a:r>
          </a:p>
          <a:p>
            <a:pPr marL="0" indent="0">
              <a:lnSpc>
                <a:spcPct val="120000"/>
              </a:lnSpc>
              <a:buNone/>
            </a:pPr>
            <a:r>
              <a:rPr lang="en-US" sz="2800" dirty="0">
                <a:latin typeface="Times New Roman" panose="02020603050405020304" pitchFamily="18" charset="0"/>
                <a:cs typeface="Times New Roman" panose="02020603050405020304" pitchFamily="18" charset="0"/>
              </a:rPr>
              <a:t>Common multiplicity values include:</a:t>
            </a:r>
          </a:p>
          <a:p>
            <a:pPr>
              <a:lnSpc>
                <a:spcPct val="120000"/>
              </a:lnSpc>
            </a:pPr>
            <a:r>
              <a:rPr lang="en-US" sz="2600" b="1"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exactly one </a:t>
            </a:r>
          </a:p>
          <a:p>
            <a:pPr>
              <a:lnSpc>
                <a:spcPct val="120000"/>
              </a:lnSpc>
            </a:pPr>
            <a:r>
              <a:rPr lang="en-US" sz="2600" b="1" dirty="0">
                <a:latin typeface="Times New Roman" panose="02020603050405020304" pitchFamily="18" charset="0"/>
                <a:cs typeface="Times New Roman" panose="02020603050405020304" pitchFamily="18" charset="0"/>
              </a:rPr>
              <a:t>0..1</a:t>
            </a:r>
            <a:r>
              <a:rPr lang="en-US" sz="2600" dirty="0">
                <a:latin typeface="Times New Roman" panose="02020603050405020304" pitchFamily="18" charset="0"/>
                <a:cs typeface="Times New Roman" panose="02020603050405020304" pitchFamily="18" charset="0"/>
              </a:rPr>
              <a:t> → zero or one </a:t>
            </a:r>
          </a:p>
          <a:p>
            <a:pPr>
              <a:lnSpc>
                <a:spcPct val="120000"/>
              </a:lnSpc>
            </a:pPr>
            <a:r>
              <a:rPr lang="en-US" sz="2600" b="1"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 → many </a:t>
            </a:r>
          </a:p>
          <a:p>
            <a:pPr>
              <a:lnSpc>
                <a:spcPct val="120000"/>
              </a:lnSpc>
            </a:pPr>
            <a:r>
              <a:rPr lang="en-US" sz="2600" b="1" dirty="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 → one or more </a:t>
            </a:r>
          </a:p>
          <a:p>
            <a:pPr>
              <a:lnSpc>
                <a:spcPct val="120000"/>
              </a:lnSpc>
            </a:pPr>
            <a:r>
              <a:rPr lang="en-US" sz="2600" b="1" dirty="0">
                <a:latin typeface="Times New Roman" panose="02020603050405020304" pitchFamily="18" charset="0"/>
                <a:cs typeface="Times New Roman" panose="02020603050405020304" pitchFamily="18" charset="0"/>
              </a:rPr>
              <a:t>1..40</a:t>
            </a:r>
            <a:r>
              <a:rPr lang="en-US" sz="2600" dirty="0">
                <a:latin typeface="Times New Roman" panose="02020603050405020304" pitchFamily="18" charset="0"/>
                <a:cs typeface="Times New Roman" panose="02020603050405020304" pitchFamily="18" charset="0"/>
              </a:rPr>
              <a:t> → a range </a:t>
            </a:r>
          </a:p>
          <a:p>
            <a:pPr>
              <a:lnSpc>
                <a:spcPct val="120000"/>
              </a:lnSpc>
            </a:pPr>
            <a:r>
              <a:rPr lang="en-US" sz="2600" b="1" dirty="0">
                <a:latin typeface="Times New Roman" panose="02020603050405020304" pitchFamily="18" charset="0"/>
                <a:cs typeface="Times New Roman" panose="02020603050405020304" pitchFamily="18" charset="0"/>
              </a:rPr>
              <a:t>5</a:t>
            </a:r>
            <a:r>
              <a:rPr lang="en-US" sz="2600" dirty="0">
                <a:latin typeface="Times New Roman" panose="02020603050405020304" pitchFamily="18" charset="0"/>
                <a:cs typeface="Times New Roman" panose="02020603050405020304" pitchFamily="18" charset="0"/>
              </a:rPr>
              <a:t> → exactly five</a:t>
            </a:r>
          </a:p>
        </p:txBody>
      </p:sp>
      <p:sp>
        <p:nvSpPr>
          <p:cNvPr id="4" name="Slide Number Placeholder 3"/>
          <p:cNvSpPr>
            <a:spLocks noGrp="1"/>
          </p:cNvSpPr>
          <p:nvPr>
            <p:ph type="sldNum" sz="quarter" idx="4"/>
          </p:nvPr>
        </p:nvSpPr>
        <p:spPr/>
        <p:txBody>
          <a:bodyPr/>
          <a:lstStyle/>
          <a:p>
            <a:fld id="{58FB4751-880F-D840-AAA9-3A15815CC996}" type="slidenum">
              <a:rPr lang="en-US" smtClean="0"/>
              <a:pPr/>
              <a:t>33</a:t>
            </a:fld>
            <a:endParaRPr lang="en-US" dirty="0"/>
          </a:p>
        </p:txBody>
      </p:sp>
    </p:spTree>
    <p:extLst>
      <p:ext uri="{BB962C8B-B14F-4D97-AF65-F5344CB8AC3E}">
        <p14:creationId xmlns:p14="http://schemas.microsoft.com/office/powerpoint/2010/main" val="2907858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6645"/>
            <a:ext cx="7534656" cy="914400"/>
          </a:xfrm>
        </p:spPr>
        <p:txBody>
          <a:bodyPr/>
          <a:lstStyle/>
          <a:p>
            <a:r>
              <a:rPr lang="en-US" sz="2800" b="1" dirty="0">
                <a:latin typeface="Arial Black" panose="020B0A04020102020204" pitchFamily="34" charset="0"/>
              </a:rPr>
              <a:t>Multiple Associations</a:t>
            </a:r>
          </a:p>
        </p:txBody>
      </p:sp>
      <p:sp>
        <p:nvSpPr>
          <p:cNvPr id="3" name="Content Placeholder 2"/>
          <p:cNvSpPr>
            <a:spLocks noGrp="1"/>
          </p:cNvSpPr>
          <p:nvPr>
            <p:ph sz="quarter" idx="10"/>
          </p:nvPr>
        </p:nvSpPr>
        <p:spPr>
          <a:xfrm>
            <a:off x="98323" y="1081548"/>
            <a:ext cx="11080954" cy="5594555"/>
          </a:xfrm>
        </p:spPr>
        <p:txBody>
          <a:bodyPr>
            <a:normAutofit fontScale="92500" lnSpcReduction="10000"/>
          </a:bodyPr>
          <a:lstStyle/>
          <a:p>
            <a:pPr marL="0" indent="0">
              <a:buNone/>
            </a:pPr>
            <a:r>
              <a:rPr lang="en-US" sz="2600" dirty="0">
                <a:latin typeface="Times New Roman" panose="02020603050405020304" pitchFamily="18" charset="0"/>
                <a:cs typeface="Times New Roman" panose="02020603050405020304" pitchFamily="18" charset="0"/>
              </a:rPr>
              <a:t>Sometimes, two classes can have multiple associations between them. For example, a Flight can have two relationships with Airport: flies-to and flies-from.</a:t>
            </a: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r>
              <a:rPr lang="en-US" sz="2600" dirty="0">
                <a:latin typeface="Times New Roman" panose="02020603050405020304" pitchFamily="18" charset="0"/>
                <a:cs typeface="Times New Roman" panose="02020603050405020304" pitchFamily="18" charset="0"/>
              </a:rPr>
              <a:t>There are also common types of associations used in UML modeling, such as:</a:t>
            </a:r>
          </a:p>
          <a:p>
            <a:pPr>
              <a:lnSpc>
                <a:spcPct val="150000"/>
              </a:lnSpc>
            </a:pPr>
            <a:r>
              <a:rPr lang="en-US" sz="2600" dirty="0">
                <a:latin typeface="Times New Roman" panose="02020603050405020304" pitchFamily="18" charset="0"/>
                <a:cs typeface="Times New Roman" panose="02020603050405020304" pitchFamily="18" charset="0"/>
              </a:rPr>
              <a:t>Transaction relationships (e.g., Payment and Sale) </a:t>
            </a:r>
          </a:p>
          <a:p>
            <a:pPr>
              <a:lnSpc>
                <a:spcPct val="150000"/>
              </a:lnSpc>
            </a:pPr>
            <a:r>
              <a:rPr lang="en-US" sz="2600" dirty="0">
                <a:latin typeface="Times New Roman" panose="02020603050405020304" pitchFamily="18" charset="0"/>
                <a:cs typeface="Times New Roman" panose="02020603050405020304" pitchFamily="18" charset="0"/>
              </a:rPr>
              <a:t>Line items of a transaction (e.g., </a:t>
            </a:r>
            <a:r>
              <a:rPr lang="en-US" sz="2600" dirty="0" err="1">
                <a:latin typeface="Times New Roman" panose="02020603050405020304" pitchFamily="18" charset="0"/>
                <a:cs typeface="Times New Roman" panose="02020603050405020304" pitchFamily="18" charset="0"/>
              </a:rPr>
              <a:t>SalesLineItem</a:t>
            </a:r>
            <a:r>
              <a:rPr lang="en-US" sz="2600" dirty="0">
                <a:latin typeface="Times New Roman" panose="02020603050405020304" pitchFamily="18" charset="0"/>
                <a:cs typeface="Times New Roman" panose="02020603050405020304" pitchFamily="18" charset="0"/>
              </a:rPr>
              <a:t> and Sale) </a:t>
            </a:r>
          </a:p>
          <a:p>
            <a:pPr>
              <a:lnSpc>
                <a:spcPct val="150000"/>
              </a:lnSpc>
            </a:pPr>
            <a:r>
              <a:rPr lang="en-US" sz="2600" dirty="0">
                <a:latin typeface="Times New Roman" panose="02020603050405020304" pitchFamily="18" charset="0"/>
                <a:cs typeface="Times New Roman" panose="02020603050405020304" pitchFamily="18" charset="0"/>
              </a:rPr>
              <a:t>Part-whole relationships (e.g., Wheel and Car) </a:t>
            </a:r>
          </a:p>
          <a:p>
            <a:pPr>
              <a:lnSpc>
                <a:spcPct val="150000"/>
              </a:lnSpc>
            </a:pPr>
            <a:r>
              <a:rPr lang="en-US" sz="2600" dirty="0">
                <a:latin typeface="Times New Roman" panose="02020603050405020304" pitchFamily="18" charset="0"/>
                <a:cs typeface="Times New Roman" panose="02020603050405020304" pitchFamily="18" charset="0"/>
              </a:rPr>
              <a:t>Container relationships (e.g., Register and Drawer) </a:t>
            </a:r>
          </a:p>
          <a:p>
            <a:pPr>
              <a:lnSpc>
                <a:spcPct val="150000"/>
              </a:lnSpc>
            </a:pPr>
            <a:r>
              <a:rPr lang="en-US" sz="2600" dirty="0">
                <a:latin typeface="Times New Roman" panose="02020603050405020304" pitchFamily="18" charset="0"/>
                <a:cs typeface="Times New Roman" panose="02020603050405020304" pitchFamily="18" charset="0"/>
              </a:rPr>
              <a:t>Description relationships (e.g., </a:t>
            </a:r>
            <a:r>
              <a:rPr lang="en-US" sz="2600" dirty="0" err="1">
                <a:latin typeface="Times New Roman" panose="02020603050405020304" pitchFamily="18" charset="0"/>
                <a:cs typeface="Times New Roman" panose="02020603050405020304" pitchFamily="18" charset="0"/>
              </a:rPr>
              <a:t>ProductDescription</a:t>
            </a:r>
            <a:r>
              <a:rPr lang="en-US" sz="2600" dirty="0">
                <a:latin typeface="Times New Roman" panose="02020603050405020304" pitchFamily="18" charset="0"/>
                <a:cs typeface="Times New Roman" panose="02020603050405020304" pitchFamily="18" charset="0"/>
              </a:rPr>
              <a:t> and Product) </a:t>
            </a:r>
          </a:p>
          <a:p>
            <a:pPr>
              <a:lnSpc>
                <a:spcPct val="150000"/>
              </a:lnSpc>
            </a:pPr>
            <a:r>
              <a:rPr lang="en-US" sz="2600" dirty="0">
                <a:latin typeface="Times New Roman" panose="02020603050405020304" pitchFamily="18" charset="0"/>
                <a:cs typeface="Times New Roman" panose="02020603050405020304" pitchFamily="18" charset="0"/>
              </a:rPr>
              <a:t>Organizational relationships (e.g., Department and Store)</a:t>
            </a:r>
          </a:p>
        </p:txBody>
      </p:sp>
      <p:sp>
        <p:nvSpPr>
          <p:cNvPr id="4" name="Slide Number Placeholder 3"/>
          <p:cNvSpPr>
            <a:spLocks noGrp="1"/>
          </p:cNvSpPr>
          <p:nvPr>
            <p:ph type="sldNum" sz="quarter" idx="4"/>
          </p:nvPr>
        </p:nvSpPr>
        <p:spPr/>
        <p:txBody>
          <a:bodyPr/>
          <a:lstStyle/>
          <a:p>
            <a:fld id="{58FB4751-880F-D840-AAA9-3A15815CC996}" type="slidenum">
              <a:rPr lang="en-US" smtClean="0"/>
              <a:pPr/>
              <a:t>34</a:t>
            </a:fld>
            <a:endParaRPr lang="en-US" dirty="0"/>
          </a:p>
        </p:txBody>
      </p:sp>
    </p:spTree>
    <p:extLst>
      <p:ext uri="{BB962C8B-B14F-4D97-AF65-F5344CB8AC3E}">
        <p14:creationId xmlns:p14="http://schemas.microsoft.com/office/powerpoint/2010/main" val="864711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35</a:t>
            </a:fld>
            <a:endParaRPr lang="en-US" dirty="0"/>
          </a:p>
        </p:txBody>
      </p:sp>
      <p:sp>
        <p:nvSpPr>
          <p:cNvPr id="3" name="Rectangle 2"/>
          <p:cNvSpPr/>
          <p:nvPr/>
        </p:nvSpPr>
        <p:spPr>
          <a:xfrm>
            <a:off x="0" y="117676"/>
            <a:ext cx="7055393" cy="523220"/>
          </a:xfrm>
          <a:prstGeom prst="rect">
            <a:avLst/>
          </a:prstGeom>
        </p:spPr>
        <p:txBody>
          <a:bodyPr wrap="none">
            <a:spAutoFit/>
          </a:bodyPr>
          <a:lstStyle/>
          <a:p>
            <a:r>
              <a:rPr lang="en-US" sz="2800" dirty="0">
                <a:latin typeface="Arial Black" panose="020B0A04020102020204" pitchFamily="34" charset="0"/>
              </a:rPr>
              <a:t>Associations in the Domain Models</a:t>
            </a:r>
          </a:p>
        </p:txBody>
      </p:sp>
      <p:pic>
        <p:nvPicPr>
          <p:cNvPr id="4" name="Picture 3"/>
          <p:cNvPicPr>
            <a:picLocks noChangeAspect="1"/>
          </p:cNvPicPr>
          <p:nvPr/>
        </p:nvPicPr>
        <p:blipFill>
          <a:blip r:embed="rId2"/>
          <a:stretch>
            <a:fillRect/>
          </a:stretch>
        </p:blipFill>
        <p:spPr>
          <a:xfrm>
            <a:off x="609601" y="741663"/>
            <a:ext cx="9635612" cy="6229408"/>
          </a:xfrm>
          <a:prstGeom prst="rect">
            <a:avLst/>
          </a:prstGeom>
        </p:spPr>
      </p:pic>
    </p:spTree>
    <p:extLst>
      <p:ext uri="{BB962C8B-B14F-4D97-AF65-F5344CB8AC3E}">
        <p14:creationId xmlns:p14="http://schemas.microsoft.com/office/powerpoint/2010/main" val="41727505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146051" y="1641764"/>
            <a:ext cx="4454235" cy="1236518"/>
          </a:xfrm>
        </p:spPr>
        <p:txBody>
          <a:bodyPr/>
          <a:lstStyle/>
          <a:p>
            <a:r>
              <a:rPr lang="en-US" dirty="0">
                <a:solidFill>
                  <a:schemeClr val="accent5">
                    <a:lumMod val="50000"/>
                  </a:schemeClr>
                </a:solidFill>
                <a:cs typeface="Arial" panose="020B0604020202020204" pitchFamily="34" charset="0"/>
              </a:rPr>
              <a:t>ATTRIBUTES</a:t>
            </a:r>
            <a:endParaRPr lang="en-US" dirty="0"/>
          </a:p>
        </p:txBody>
      </p:sp>
      <p:sp>
        <p:nvSpPr>
          <p:cNvPr id="13" name="Content Placeholder 12">
            <a:extLst>
              <a:ext uri="{FF2B5EF4-FFF2-40B4-BE49-F238E27FC236}">
                <a16:creationId xmlns:a16="http://schemas.microsoft.com/office/drawing/2014/main" id="{7E5FC6D6-A736-2345-59F4-1FD7DBAEE852}"/>
              </a:ext>
            </a:extLst>
          </p:cNvPr>
          <p:cNvSpPr>
            <a:spLocks noGrp="1"/>
          </p:cNvSpPr>
          <p:nvPr>
            <p:ph idx="1"/>
          </p:nvPr>
        </p:nvSpPr>
        <p:spPr>
          <a:xfrm>
            <a:off x="6591714" y="332510"/>
            <a:ext cx="5461739" cy="6017490"/>
          </a:xfrm>
        </p:spPr>
        <p:txBody>
          <a:bodyPr>
            <a:normAutofit/>
          </a:bodyPr>
          <a:lstStyle/>
          <a:p>
            <a:pPr algn="just"/>
            <a:r>
              <a:rPr lang="en-US" b="1" cap="none" dirty="0"/>
              <a:t>Definition</a:t>
            </a:r>
          </a:p>
          <a:p>
            <a:pPr marL="342900" indent="-342900" algn="just">
              <a:buFont typeface="Arial" panose="020B0604020202020204" pitchFamily="34" charset="0"/>
              <a:buChar char="•"/>
            </a:pPr>
            <a:r>
              <a:rPr lang="en-US" sz="2800" cap="none" dirty="0"/>
              <a:t>An attribute is the data or value of an object.</a:t>
            </a:r>
          </a:p>
          <a:p>
            <a:pPr marL="342900" indent="-342900" algn="just">
              <a:buFont typeface="Arial" panose="020B0604020202020204" pitchFamily="34" charset="0"/>
              <a:buChar char="•"/>
            </a:pPr>
            <a:r>
              <a:rPr lang="en-US" sz="2800" cap="none" dirty="0"/>
              <a:t>Stores information in a class</a:t>
            </a:r>
            <a:r>
              <a:rPr lang="en-US" sz="2800" cap="none" dirty="0">
                <a:latin typeface="+mj-lt"/>
                <a:ea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r>
              <a:rPr lang="en-US" sz="2800" cap="none" dirty="0"/>
              <a:t>Based on system requirements</a:t>
            </a:r>
          </a:p>
          <a:p>
            <a:pPr algn="just"/>
            <a:r>
              <a:rPr lang="en-US" b="1" cap="none" dirty="0"/>
              <a:t>When to show attributes</a:t>
            </a:r>
          </a:p>
          <a:p>
            <a:pPr marL="457200" indent="-457200" algn="just">
              <a:buFont typeface="Arial" pitchFamily="34" charset="0"/>
              <a:buChar char="•"/>
            </a:pPr>
            <a:r>
              <a:rPr lang="en-US" sz="2800" cap="none" dirty="0"/>
              <a:t>Include only required attributes</a:t>
            </a:r>
          </a:p>
          <a:p>
            <a:pPr marL="457200" indent="-457200" algn="just">
              <a:buFont typeface="Arial" pitchFamily="34" charset="0"/>
              <a:buChar char="•"/>
            </a:pPr>
            <a:r>
              <a:rPr lang="en-US" sz="2800" cap="none" dirty="0"/>
              <a:t>based on use cases </a:t>
            </a:r>
          </a:p>
          <a:p>
            <a:pPr marL="457200" indent="-457200" algn="just">
              <a:buFont typeface="Arial" pitchFamily="34" charset="0"/>
              <a:buChar char="•"/>
            </a:pPr>
            <a:r>
              <a:rPr lang="en-US" sz="2800" cap="none" dirty="0"/>
              <a:t>system must remember this data</a:t>
            </a:r>
          </a:p>
          <a:p>
            <a:pPr algn="just"/>
            <a:r>
              <a:rPr lang="en-US" b="1" cap="none" dirty="0"/>
              <a:t>Examples: </a:t>
            </a:r>
          </a:p>
          <a:p>
            <a:pPr algn="just"/>
            <a:r>
              <a:rPr lang="en-US" sz="2800" cap="none" dirty="0"/>
              <a:t>     sale → datetime   </a:t>
            </a:r>
          </a:p>
          <a:p>
            <a:pPr algn="just"/>
            <a:r>
              <a:rPr lang="en-US" sz="2800" cap="none" dirty="0"/>
              <a:t>     store → name, address</a:t>
            </a:r>
          </a:p>
          <a:p>
            <a:pPr marL="342900" indent="-342900" algn="l">
              <a:buFont typeface="Arial" panose="020B0604020202020204" pitchFamily="34" charset="0"/>
              <a:buChar char="•"/>
            </a:pPr>
            <a:endParaRPr lang="en-US" sz="2800" cap="none"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067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37</a:t>
            </a:fld>
            <a:endParaRPr lang="en-US" dirty="0"/>
          </a:p>
        </p:txBody>
      </p:sp>
      <p:sp>
        <p:nvSpPr>
          <p:cNvPr id="3" name="TextBox 2"/>
          <p:cNvSpPr txBox="1"/>
          <p:nvPr/>
        </p:nvSpPr>
        <p:spPr>
          <a:xfrm>
            <a:off x="313267" y="50601"/>
            <a:ext cx="3552997" cy="369332"/>
          </a:xfrm>
          <a:prstGeom prst="rect">
            <a:avLst/>
          </a:prstGeom>
          <a:noFill/>
        </p:spPr>
        <p:txBody>
          <a:bodyPr wrap="square" rtlCol="0">
            <a:spAutoFit/>
          </a:bodyPr>
          <a:lstStyle/>
          <a:p>
            <a:r>
              <a:rPr lang="en-US" b="1" dirty="0">
                <a:cs typeface="Arial" panose="020B0604020202020204" pitchFamily="34" charset="0"/>
              </a:rPr>
              <a:t>ATTRIBUTE NOTATION</a:t>
            </a:r>
            <a:endParaRPr lang="en-US" b="1" dirty="0"/>
          </a:p>
        </p:txBody>
      </p:sp>
      <p:sp>
        <p:nvSpPr>
          <p:cNvPr id="4" name="TextBox 3"/>
          <p:cNvSpPr txBox="1"/>
          <p:nvPr/>
        </p:nvSpPr>
        <p:spPr>
          <a:xfrm>
            <a:off x="313267" y="541867"/>
            <a:ext cx="11489267"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Attributes are shown in the second compartment of the class box (see </a:t>
            </a:r>
            <a:r>
              <a:rPr lang="en-US" sz="2000" u="sng" dirty="0">
                <a:latin typeface="Arial" panose="020B0604020202020204" pitchFamily="34" charset="0"/>
                <a:cs typeface="Arial" panose="020B0604020202020204" pitchFamily="34" charset="0"/>
              </a:rPr>
              <a:t>Figure 9.19</a:t>
            </a:r>
            <a:r>
              <a:rPr lang="en-US" sz="2000" dirty="0">
                <a:latin typeface="Arial" panose="020B0604020202020204" pitchFamily="34" charset="0"/>
                <a:cs typeface="Arial" panose="020B0604020202020204" pitchFamily="34" charset="0"/>
              </a:rPr>
              <a:t>). Their type and other information may optionally be shown.</a:t>
            </a:r>
          </a:p>
          <a:p>
            <a:endParaRPr lang="en-US" sz="20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67" y="3378199"/>
            <a:ext cx="6349998" cy="252306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8933" y="1203113"/>
            <a:ext cx="4893734" cy="1691640"/>
          </a:xfrm>
          <a:prstGeom prst="rect">
            <a:avLst/>
          </a:prstGeom>
        </p:spPr>
      </p:pic>
      <p:sp>
        <p:nvSpPr>
          <p:cNvPr id="7" name="TextBox 6"/>
          <p:cNvSpPr txBox="1"/>
          <p:nvPr/>
        </p:nvSpPr>
        <p:spPr>
          <a:xfrm>
            <a:off x="389467" y="1465197"/>
            <a:ext cx="2007306" cy="646331"/>
          </a:xfrm>
          <a:prstGeom prst="rect">
            <a:avLst/>
          </a:prstGeom>
          <a:noFill/>
        </p:spPr>
        <p:txBody>
          <a:bodyPr wrap="square" rtlCol="0">
            <a:spAutoFit/>
          </a:bodyPr>
          <a:lstStyle/>
          <a:p>
            <a:r>
              <a:rPr lang="en-US" b="1" dirty="0"/>
              <a:t>More Notation</a:t>
            </a:r>
            <a:endParaRPr lang="en-US" dirty="0"/>
          </a:p>
          <a:p>
            <a:endParaRPr lang="en-US" dirty="0"/>
          </a:p>
        </p:txBody>
      </p:sp>
      <p:sp>
        <p:nvSpPr>
          <p:cNvPr id="8" name="TextBox 7"/>
          <p:cNvSpPr txBox="1"/>
          <p:nvPr/>
        </p:nvSpPr>
        <p:spPr>
          <a:xfrm>
            <a:off x="313267" y="2111528"/>
            <a:ext cx="7128723" cy="923330"/>
          </a:xfrm>
          <a:prstGeom prst="rect">
            <a:avLst/>
          </a:prstGeom>
          <a:noFill/>
        </p:spPr>
        <p:txBody>
          <a:bodyPr wrap="square" rtlCol="0">
            <a:spAutoFit/>
          </a:bodyPr>
          <a:lstStyle/>
          <a:p>
            <a:r>
              <a:rPr lang="en-US" dirty="0"/>
              <a:t>The full syntax for an attribute in the UML is:</a:t>
            </a:r>
          </a:p>
          <a:p>
            <a:r>
              <a:rPr lang="en-US" b="1" dirty="0"/>
              <a:t>visibility name : type multiplicity = default {property-string}</a:t>
            </a:r>
            <a:endParaRPr lang="en-US" dirty="0"/>
          </a:p>
          <a:p>
            <a:endParaRPr lang="en-US" dirty="0"/>
          </a:p>
        </p:txBody>
      </p:sp>
      <p:sp>
        <p:nvSpPr>
          <p:cNvPr id="9" name="Rectangle 8"/>
          <p:cNvSpPr/>
          <p:nvPr/>
        </p:nvSpPr>
        <p:spPr>
          <a:xfrm>
            <a:off x="313267" y="2802468"/>
            <a:ext cx="5562601" cy="369332"/>
          </a:xfrm>
          <a:prstGeom prst="rect">
            <a:avLst/>
          </a:prstGeom>
        </p:spPr>
        <p:txBody>
          <a:bodyPr wrap="square">
            <a:spAutoFit/>
          </a:bodyPr>
          <a:lstStyle/>
          <a:p>
            <a:r>
              <a:rPr lang="en-US" dirty="0"/>
              <a:t>Some common examples are shown in </a:t>
            </a:r>
            <a:r>
              <a:rPr lang="en-US" u="sng" dirty="0"/>
              <a:t>Figure 9.20</a:t>
            </a:r>
            <a:r>
              <a:rPr lang="en-US" dirty="0"/>
              <a:t>.</a:t>
            </a:r>
          </a:p>
        </p:txBody>
      </p:sp>
    </p:spTree>
    <p:extLst>
      <p:ext uri="{BB962C8B-B14F-4D97-AF65-F5344CB8AC3E}">
        <p14:creationId xmlns:p14="http://schemas.microsoft.com/office/powerpoint/2010/main" val="2944238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0152" cy="807719"/>
          </a:xfrm>
        </p:spPr>
        <p:txBody>
          <a:bodyPr/>
          <a:lstStyle/>
          <a:p>
            <a:r>
              <a:rPr lang="en-US" dirty="0"/>
              <a:t>Derived Attributes                      Attribute Types</a:t>
            </a:r>
          </a:p>
        </p:txBody>
      </p:sp>
      <p:sp>
        <p:nvSpPr>
          <p:cNvPr id="3" name="Content Placeholder 2"/>
          <p:cNvSpPr>
            <a:spLocks noGrp="1"/>
          </p:cNvSpPr>
          <p:nvPr>
            <p:ph sz="quarter" idx="11"/>
          </p:nvPr>
        </p:nvSpPr>
        <p:spPr>
          <a:xfrm>
            <a:off x="948268" y="1031580"/>
            <a:ext cx="3759200" cy="1830153"/>
          </a:xfrm>
        </p:spPr>
        <p:txBody>
          <a:bodyPr>
            <a:normAutofit fontScale="85000" lnSpcReduction="20000"/>
          </a:bodyPr>
          <a:lstStyle/>
          <a:p>
            <a:pPr marL="342900" indent="-342900">
              <a:buFont typeface="Arial" pitchFamily="34" charset="0"/>
              <a:buChar char="•"/>
            </a:pPr>
            <a:r>
              <a:rPr lang="en-US" dirty="0"/>
              <a:t>Calculated from other values</a:t>
            </a:r>
          </a:p>
          <a:p>
            <a:pPr marL="342900" indent="-342900">
              <a:buFont typeface="Arial" pitchFamily="34" charset="0"/>
              <a:buChar char="•"/>
            </a:pPr>
            <a:r>
              <a:rPr lang="en-US" dirty="0"/>
              <a:t>Not stored directly </a:t>
            </a:r>
          </a:p>
          <a:p>
            <a:pPr marL="342900" indent="-342900">
              <a:buFont typeface="Arial" pitchFamily="34" charset="0"/>
              <a:buChar char="•"/>
            </a:pPr>
            <a:r>
              <a:rPr lang="en-US" dirty="0"/>
              <a:t>Use "/" symbol </a:t>
            </a:r>
          </a:p>
          <a:p>
            <a:r>
              <a:rPr lang="en-US" b="1" dirty="0"/>
              <a:t>Example: </a:t>
            </a:r>
          </a:p>
          <a:p>
            <a:pPr marL="342900" indent="-342900">
              <a:buFont typeface="Arial" pitchFamily="34" charset="0"/>
              <a:buChar char="•"/>
            </a:pPr>
            <a:r>
              <a:rPr lang="en-US" dirty="0"/>
              <a:t>/total </a:t>
            </a:r>
          </a:p>
          <a:p>
            <a:pPr marL="342900" indent="-342900">
              <a:buFont typeface="Arial" pitchFamily="34" charset="0"/>
              <a:buChar char="•"/>
            </a:pPr>
            <a:r>
              <a:rPr lang="en-US" dirty="0"/>
              <a:t>quantity</a:t>
            </a:r>
          </a:p>
          <a:p>
            <a:endParaRPr lang="en-US" dirty="0"/>
          </a:p>
        </p:txBody>
      </p:sp>
      <p:pic>
        <p:nvPicPr>
          <p:cNvPr id="6" name="Content Placeholder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083732" y="2921000"/>
            <a:ext cx="7755467" cy="3321133"/>
          </a:xfrm>
        </p:spPr>
      </p:pic>
      <p:sp>
        <p:nvSpPr>
          <p:cNvPr id="5" name="Slide Number Placeholder 4"/>
          <p:cNvSpPr>
            <a:spLocks noGrp="1"/>
          </p:cNvSpPr>
          <p:nvPr>
            <p:ph type="sldNum" sz="quarter" idx="4"/>
          </p:nvPr>
        </p:nvSpPr>
        <p:spPr/>
        <p:txBody>
          <a:bodyPr/>
          <a:lstStyle/>
          <a:p>
            <a:fld id="{58FB4751-880F-D840-AAA9-3A15815CC996}" type="slidenum">
              <a:rPr lang="en-US" smtClean="0"/>
              <a:pPr/>
              <a:t>38</a:t>
            </a:fld>
            <a:endParaRPr lang="en-US" dirty="0"/>
          </a:p>
        </p:txBody>
      </p:sp>
      <p:sp>
        <p:nvSpPr>
          <p:cNvPr id="9" name="TextBox 8"/>
          <p:cNvSpPr txBox="1"/>
          <p:nvPr/>
        </p:nvSpPr>
        <p:spPr>
          <a:xfrm>
            <a:off x="6595534" y="990601"/>
            <a:ext cx="5232400" cy="1200329"/>
          </a:xfrm>
          <a:prstGeom prst="rect">
            <a:avLst/>
          </a:prstGeom>
          <a:noFill/>
        </p:spPr>
        <p:txBody>
          <a:bodyPr wrap="square" rtlCol="0">
            <a:spAutoFit/>
          </a:bodyPr>
          <a:lstStyle/>
          <a:p>
            <a:pPr marL="285750" indent="-285750">
              <a:buFont typeface="Arial" pitchFamily="34" charset="0"/>
              <a:buChar char="•"/>
            </a:pPr>
            <a:r>
              <a:rPr lang="en-US" dirty="0"/>
              <a:t>Prefer simple data types: </a:t>
            </a:r>
          </a:p>
          <a:p>
            <a:pPr marL="1200150" lvl="2" indent="-285750">
              <a:buFont typeface="Arial" pitchFamily="34" charset="0"/>
              <a:buChar char="•"/>
            </a:pPr>
            <a:r>
              <a:rPr lang="en-US" dirty="0"/>
              <a:t>Number, String, Boolean, Date </a:t>
            </a:r>
          </a:p>
          <a:p>
            <a:pPr marL="285750" indent="-285750">
              <a:buFont typeface="Arial" pitchFamily="34" charset="0"/>
              <a:buChar char="•"/>
            </a:pPr>
            <a:r>
              <a:rPr lang="en-US" dirty="0"/>
              <a:t>Data types = value-based (no identity) </a:t>
            </a:r>
          </a:p>
          <a:p>
            <a:pPr marL="285750" indent="-285750">
              <a:buFont typeface="Arial" pitchFamily="34" charset="0"/>
              <a:buChar char="•"/>
            </a:pPr>
            <a:r>
              <a:rPr lang="en-US" dirty="0"/>
              <a:t>Objects (like Person) have identity</a:t>
            </a:r>
          </a:p>
        </p:txBody>
      </p:sp>
    </p:spTree>
    <p:extLst>
      <p:ext uri="{BB962C8B-B14F-4D97-AF65-F5344CB8AC3E}">
        <p14:creationId xmlns:p14="http://schemas.microsoft.com/office/powerpoint/2010/main" val="1769146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135468"/>
            <a:ext cx="11020552" cy="787399"/>
          </a:xfrm>
        </p:spPr>
        <p:txBody>
          <a:bodyPr/>
          <a:lstStyle/>
          <a:p>
            <a:r>
              <a:rPr lang="en-US" dirty="0"/>
              <a:t>Associations vs Attributes</a:t>
            </a:r>
          </a:p>
        </p:txBody>
      </p:sp>
      <p:sp>
        <p:nvSpPr>
          <p:cNvPr id="3" name="Content Placeholder 2"/>
          <p:cNvSpPr>
            <a:spLocks noGrp="1"/>
          </p:cNvSpPr>
          <p:nvPr>
            <p:ph sz="quarter" idx="13"/>
          </p:nvPr>
        </p:nvSpPr>
        <p:spPr>
          <a:xfrm>
            <a:off x="338667" y="1032933"/>
            <a:ext cx="3940724" cy="4910667"/>
          </a:xfrm>
        </p:spPr>
        <p:txBody>
          <a:bodyPr/>
          <a:lstStyle/>
          <a:p>
            <a:pPr marL="0" indent="0">
              <a:buNone/>
            </a:pPr>
            <a:r>
              <a:rPr lang="en-US" b="1" dirty="0"/>
              <a:t>Important Rule</a:t>
            </a:r>
            <a:endParaRPr lang="en-US" dirty="0"/>
          </a:p>
          <a:p>
            <a:pPr marL="342900" indent="-342900">
              <a:buFont typeface="Arial" pitchFamily="34" charset="0"/>
              <a:buChar char="•"/>
            </a:pPr>
            <a:r>
              <a:rPr lang="en-US" dirty="0"/>
              <a:t>❌ Do not use complex objects as attributes </a:t>
            </a:r>
          </a:p>
          <a:p>
            <a:pPr marL="342900" indent="-342900">
              <a:buFont typeface="Arial" pitchFamily="34" charset="0"/>
              <a:buChar char="•"/>
            </a:pPr>
            <a:r>
              <a:rPr lang="en-US" dirty="0"/>
              <a:t>✔ Use associations instead </a:t>
            </a:r>
          </a:p>
          <a:p>
            <a:pPr marL="0" indent="0">
              <a:buNone/>
            </a:pPr>
            <a:r>
              <a:rPr lang="en-US" b="1" dirty="0"/>
              <a:t>Examples:</a:t>
            </a:r>
            <a:endParaRPr lang="en-US" dirty="0"/>
          </a:p>
          <a:p>
            <a:pPr marL="342900" indent="-342900">
              <a:buFont typeface="Arial" pitchFamily="34" charset="0"/>
              <a:buChar char="•"/>
            </a:pPr>
            <a:r>
              <a:rPr lang="en-US" dirty="0"/>
              <a:t>Cashier → Register </a:t>
            </a:r>
          </a:p>
          <a:p>
            <a:pPr marL="342900" indent="-342900">
              <a:buFont typeface="Arial" pitchFamily="34" charset="0"/>
              <a:buChar char="•"/>
            </a:pPr>
            <a:r>
              <a:rPr lang="en-US" dirty="0"/>
              <a:t>Flight → Airport</a:t>
            </a:r>
          </a:p>
          <a:p>
            <a:endParaRPr lang="en-US" dirty="0"/>
          </a:p>
        </p:txBody>
      </p:sp>
      <p:pic>
        <p:nvPicPr>
          <p:cNvPr id="6" name="Content Placeholder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6096000" y="1242695"/>
            <a:ext cx="5036819" cy="1889760"/>
          </a:xfrm>
        </p:spPr>
      </p:pic>
      <p:sp>
        <p:nvSpPr>
          <p:cNvPr id="5" name="Slide Number Placeholder 4"/>
          <p:cNvSpPr>
            <a:spLocks noGrp="1"/>
          </p:cNvSpPr>
          <p:nvPr>
            <p:ph type="sldNum" sz="quarter" idx="4"/>
          </p:nvPr>
        </p:nvSpPr>
        <p:spPr/>
        <p:txBody>
          <a:bodyPr/>
          <a:lstStyle/>
          <a:p>
            <a:fld id="{58FB4751-880F-D840-AAA9-3A15815CC996}" type="slidenum">
              <a:rPr lang="en-US" smtClean="0"/>
              <a:pPr/>
              <a:t>39</a:t>
            </a:fld>
            <a:endParaRPr lang="en-US"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776980"/>
            <a:ext cx="5036820" cy="2301240"/>
          </a:xfrm>
          <a:prstGeom prst="rect">
            <a:avLst/>
          </a:prstGeom>
        </p:spPr>
      </p:pic>
    </p:spTree>
    <p:extLst>
      <p:ext uri="{BB962C8B-B14F-4D97-AF65-F5344CB8AC3E}">
        <p14:creationId xmlns:p14="http://schemas.microsoft.com/office/powerpoint/2010/main" val="961555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467" y="406400"/>
            <a:ext cx="8652933" cy="626533"/>
          </a:xfrm>
        </p:spPr>
        <p:txBody>
          <a:bodyPr/>
          <a:lstStyle/>
          <a:p>
            <a:r>
              <a:rPr lang="en-US" dirty="0"/>
              <a:t>Data Type Classes &amp; Guidelines</a:t>
            </a:r>
          </a:p>
        </p:txBody>
      </p:sp>
      <p:sp>
        <p:nvSpPr>
          <p:cNvPr id="3" name="Content Placeholder 2"/>
          <p:cNvSpPr>
            <a:spLocks noGrp="1"/>
          </p:cNvSpPr>
          <p:nvPr>
            <p:ph sz="quarter" idx="13"/>
          </p:nvPr>
        </p:nvSpPr>
        <p:spPr>
          <a:xfrm>
            <a:off x="381000" y="1185333"/>
            <a:ext cx="3991524" cy="5562600"/>
          </a:xfrm>
        </p:spPr>
        <p:txBody>
          <a:bodyPr>
            <a:normAutofit lnSpcReduction="10000"/>
          </a:bodyPr>
          <a:lstStyle/>
          <a:p>
            <a:pPr marL="0" indent="0">
              <a:buNone/>
            </a:pPr>
            <a:r>
              <a:rPr lang="en-US" sz="1800" b="1" dirty="0"/>
              <a:t>New Data Type Classes</a:t>
            </a:r>
          </a:p>
          <a:p>
            <a:pPr marL="0" indent="0">
              <a:buNone/>
            </a:pPr>
            <a:r>
              <a:rPr lang="en-US" sz="1800" dirty="0"/>
              <a:t>Create new class if:</a:t>
            </a:r>
          </a:p>
          <a:p>
            <a:pPr marL="285750" indent="-285750">
              <a:buFont typeface="Arial" pitchFamily="34" charset="0"/>
              <a:buChar char="•"/>
            </a:pPr>
            <a:r>
              <a:rPr lang="en-US" sz="1800" dirty="0"/>
              <a:t>Value has multiple parts </a:t>
            </a:r>
          </a:p>
          <a:p>
            <a:pPr marL="285750" indent="-285750">
              <a:buFont typeface="Arial" pitchFamily="34" charset="0"/>
              <a:buChar char="•"/>
            </a:pPr>
            <a:r>
              <a:rPr lang="en-US" sz="1800" dirty="0"/>
              <a:t>Needs validation </a:t>
            </a:r>
          </a:p>
          <a:p>
            <a:pPr marL="285750" indent="-285750">
              <a:buFont typeface="Arial" pitchFamily="34" charset="0"/>
              <a:buChar char="•"/>
            </a:pPr>
            <a:r>
              <a:rPr lang="en-US" sz="1800" dirty="0"/>
              <a:t>Has its own attributes </a:t>
            </a:r>
          </a:p>
          <a:p>
            <a:pPr marL="285750" indent="-285750">
              <a:buFont typeface="Arial" pitchFamily="34" charset="0"/>
              <a:buChar char="•"/>
            </a:pPr>
            <a:r>
              <a:rPr lang="en-US" sz="1800" dirty="0"/>
              <a:t>Has units </a:t>
            </a:r>
          </a:p>
          <a:p>
            <a:pPr marL="0" indent="0">
              <a:buNone/>
            </a:pPr>
            <a:r>
              <a:rPr lang="en-US" sz="1800" b="1" dirty="0"/>
              <a:t>Examples:</a:t>
            </a:r>
          </a:p>
          <a:p>
            <a:pPr marL="285750" indent="-285750">
              <a:buFont typeface="Arial" pitchFamily="34" charset="0"/>
              <a:buChar char="•"/>
            </a:pPr>
            <a:r>
              <a:rPr lang="en-US" sz="1800" dirty="0" err="1"/>
              <a:t>ItemID</a:t>
            </a:r>
            <a:r>
              <a:rPr lang="en-US" sz="1800" dirty="0"/>
              <a:t> </a:t>
            </a:r>
          </a:p>
          <a:p>
            <a:pPr marL="285750" indent="-285750">
              <a:buFont typeface="Arial" pitchFamily="34" charset="0"/>
              <a:buChar char="•"/>
            </a:pPr>
            <a:r>
              <a:rPr lang="en-US" sz="1800" dirty="0"/>
              <a:t>Address </a:t>
            </a:r>
          </a:p>
          <a:p>
            <a:pPr marL="285750" indent="-285750">
              <a:buFont typeface="Arial" pitchFamily="34" charset="0"/>
              <a:buChar char="•"/>
            </a:pPr>
            <a:r>
              <a:rPr lang="en-US" sz="1800" dirty="0"/>
              <a:t>Money</a:t>
            </a:r>
          </a:p>
          <a:p>
            <a:pPr marL="0" indent="0">
              <a:buNone/>
            </a:pPr>
            <a:r>
              <a:rPr lang="en-US" sz="1800" b="1" dirty="0"/>
              <a:t>Showing Data Types</a:t>
            </a:r>
          </a:p>
          <a:p>
            <a:pPr marL="285750" indent="-285750">
              <a:buFont typeface="Arial" pitchFamily="34" charset="0"/>
              <a:buChar char="•"/>
            </a:pPr>
            <a:r>
              <a:rPr lang="en-US" sz="1800" dirty="0"/>
              <a:t>Two ways:</a:t>
            </a:r>
          </a:p>
          <a:p>
            <a:pPr marL="285750" indent="-285750" algn="ctr">
              <a:buFont typeface="Arial" pitchFamily="34" charset="0"/>
              <a:buChar char="•"/>
            </a:pPr>
            <a:r>
              <a:rPr lang="en-US" sz="1800" dirty="0"/>
              <a:t>     Inside attribute </a:t>
            </a:r>
          </a:p>
          <a:p>
            <a:pPr marL="285750" indent="-285750" algn="ctr">
              <a:buFont typeface="Arial" pitchFamily="34" charset="0"/>
              <a:buChar char="•"/>
            </a:pPr>
            <a:r>
              <a:rPr lang="en-US" sz="1800" dirty="0"/>
              <a:t>As separate class </a:t>
            </a:r>
          </a:p>
          <a:p>
            <a:pPr marL="285750" indent="-285750">
              <a:buFont typeface="Arial" pitchFamily="34" charset="0"/>
              <a:buChar char="•"/>
            </a:pPr>
            <a:r>
              <a:rPr lang="en-US" sz="1800" dirty="0"/>
              <a:t>Depends on importance</a:t>
            </a:r>
          </a:p>
          <a:p>
            <a:endParaRPr lang="en-US" dirty="0"/>
          </a:p>
        </p:txBody>
      </p:sp>
      <p:pic>
        <p:nvPicPr>
          <p:cNvPr id="6" name="Content Placeholder 5"/>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4326465" y="2099734"/>
            <a:ext cx="7069667" cy="3378199"/>
          </a:xfrm>
        </p:spPr>
      </p:pic>
      <p:sp>
        <p:nvSpPr>
          <p:cNvPr id="5" name="Slide Number Placeholder 4"/>
          <p:cNvSpPr>
            <a:spLocks noGrp="1"/>
          </p:cNvSpPr>
          <p:nvPr>
            <p:ph type="sldNum" sz="quarter" idx="4"/>
          </p:nvPr>
        </p:nvSpPr>
        <p:spPr/>
        <p:txBody>
          <a:bodyPr/>
          <a:lstStyle/>
          <a:p>
            <a:fld id="{58FB4751-880F-D840-AAA9-3A15815CC996}" type="slidenum">
              <a:rPr lang="en-US" smtClean="0"/>
              <a:pPr/>
              <a:t>40</a:t>
            </a:fld>
            <a:endParaRPr lang="en-US" dirty="0"/>
          </a:p>
        </p:txBody>
      </p:sp>
    </p:spTree>
    <p:extLst>
      <p:ext uri="{BB962C8B-B14F-4D97-AF65-F5344CB8AC3E}">
        <p14:creationId xmlns:p14="http://schemas.microsoft.com/office/powerpoint/2010/main" val="2609387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58FB4751-880F-D840-AAA9-3A15815CC996}" type="slidenum">
              <a:rPr lang="en-US" smtClean="0"/>
              <a:pPr/>
              <a:t>41</a:t>
            </a:fld>
            <a:endParaRPr lang="en-US" dirty="0"/>
          </a:p>
        </p:txBody>
      </p:sp>
      <p:sp>
        <p:nvSpPr>
          <p:cNvPr id="3" name="TextBox 2"/>
          <p:cNvSpPr txBox="1"/>
          <p:nvPr/>
        </p:nvSpPr>
        <p:spPr>
          <a:xfrm>
            <a:off x="491067" y="364067"/>
            <a:ext cx="3043711" cy="369332"/>
          </a:xfrm>
          <a:prstGeom prst="rect">
            <a:avLst/>
          </a:prstGeom>
          <a:noFill/>
        </p:spPr>
        <p:txBody>
          <a:bodyPr wrap="square" rtlCol="0">
            <a:spAutoFit/>
          </a:bodyPr>
          <a:lstStyle/>
          <a:p>
            <a:r>
              <a:rPr lang="en-US" b="1" dirty="0"/>
              <a:t>Special Guidelines</a:t>
            </a:r>
          </a:p>
        </p:txBody>
      </p:sp>
      <p:sp>
        <p:nvSpPr>
          <p:cNvPr id="4" name="TextBox 3"/>
          <p:cNvSpPr txBox="1"/>
          <p:nvPr/>
        </p:nvSpPr>
        <p:spPr>
          <a:xfrm>
            <a:off x="584200" y="872067"/>
            <a:ext cx="5190067" cy="1754326"/>
          </a:xfrm>
          <a:prstGeom prst="rect">
            <a:avLst/>
          </a:prstGeom>
          <a:noFill/>
        </p:spPr>
        <p:txBody>
          <a:bodyPr wrap="square" rtlCol="0" anchor="ctr">
            <a:spAutoFit/>
          </a:bodyPr>
          <a:lstStyle/>
          <a:p>
            <a:pPr marL="285750" indent="-285750">
              <a:buFont typeface="Arial" pitchFamily="34" charset="0"/>
              <a:buChar char="•"/>
            </a:pPr>
            <a:r>
              <a:rPr lang="en-US" dirty="0"/>
              <a:t>❌ No foreign keys as attributes </a:t>
            </a:r>
          </a:p>
          <a:p>
            <a:pPr marL="285750" indent="-285750">
              <a:buFont typeface="Arial" pitchFamily="34" charset="0"/>
              <a:buChar char="•"/>
            </a:pPr>
            <a:r>
              <a:rPr lang="en-US" dirty="0"/>
              <a:t>✔ Use associations </a:t>
            </a:r>
          </a:p>
          <a:p>
            <a:pPr marL="285750" indent="-285750">
              <a:buFont typeface="Arial" pitchFamily="34" charset="0"/>
              <a:buChar char="•"/>
            </a:pPr>
            <a:r>
              <a:rPr lang="en-US" dirty="0"/>
              <a:t>Quantities must include units </a:t>
            </a:r>
          </a:p>
          <a:p>
            <a:pPr marL="285750" indent="-285750" algn="ctr">
              <a:buFont typeface="Arial" pitchFamily="34" charset="0"/>
              <a:buChar char="•"/>
            </a:pPr>
            <a:r>
              <a:rPr lang="en-US" dirty="0"/>
              <a:t>Price → Money </a:t>
            </a:r>
          </a:p>
          <a:p>
            <a:pPr marL="285750" indent="-285750" algn="ctr">
              <a:buFont typeface="Arial" pitchFamily="34" charset="0"/>
              <a:buChar char="•"/>
            </a:pPr>
            <a:r>
              <a:rPr lang="en-US" dirty="0"/>
              <a:t>Weight     → kg</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3" y="2717800"/>
            <a:ext cx="4851400" cy="33528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3267" y="2717800"/>
            <a:ext cx="6400800" cy="3352800"/>
          </a:xfrm>
          <a:prstGeom prst="rect">
            <a:avLst/>
          </a:prstGeom>
        </p:spPr>
      </p:pic>
    </p:spTree>
    <p:extLst>
      <p:ext uri="{BB962C8B-B14F-4D97-AF65-F5344CB8AC3E}">
        <p14:creationId xmlns:p14="http://schemas.microsoft.com/office/powerpoint/2010/main" val="346600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133" y="101600"/>
            <a:ext cx="7974923" cy="728133"/>
          </a:xfrm>
        </p:spPr>
        <p:txBody>
          <a:bodyPr/>
          <a:lstStyle/>
          <a:p>
            <a:r>
              <a:rPr lang="en-US" dirty="0"/>
              <a:t>Example: Attributes in the Domain Models</a:t>
            </a:r>
          </a:p>
        </p:txBody>
      </p:sp>
      <p:pic>
        <p:nvPicPr>
          <p:cNvPr id="5" name="Content Placeholder 4"/>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71134" y="3499723"/>
            <a:ext cx="8043757" cy="2781300"/>
          </a:xfrm>
        </p:spPr>
      </p:pic>
      <p:sp>
        <p:nvSpPr>
          <p:cNvPr id="4" name="Slide Number Placeholder 3"/>
          <p:cNvSpPr>
            <a:spLocks noGrp="1"/>
          </p:cNvSpPr>
          <p:nvPr>
            <p:ph type="sldNum" sz="quarter" idx="4"/>
          </p:nvPr>
        </p:nvSpPr>
        <p:spPr/>
        <p:txBody>
          <a:bodyPr/>
          <a:lstStyle/>
          <a:p>
            <a:fld id="{58FB4751-880F-D840-AAA9-3A15815CC996}" type="slidenum">
              <a:rPr lang="en-US" smtClean="0"/>
              <a:pPr/>
              <a:t>42</a:t>
            </a:fld>
            <a:endParaRPr lang="en-US" dirty="0"/>
          </a:p>
        </p:txBody>
      </p:sp>
      <p:sp>
        <p:nvSpPr>
          <p:cNvPr id="6" name="TextBox 5"/>
          <p:cNvSpPr txBox="1"/>
          <p:nvPr/>
        </p:nvSpPr>
        <p:spPr>
          <a:xfrm>
            <a:off x="457199" y="914400"/>
            <a:ext cx="10397068" cy="2585323"/>
          </a:xfrm>
          <a:prstGeom prst="rect">
            <a:avLst/>
          </a:prstGeom>
          <a:noFill/>
        </p:spPr>
        <p:txBody>
          <a:bodyPr wrap="square" rtlCol="0">
            <a:spAutoFit/>
          </a:bodyPr>
          <a:lstStyle/>
          <a:p>
            <a:r>
              <a:rPr lang="en-US" b="1" dirty="0"/>
              <a:t>Case Study: Monopoly</a:t>
            </a:r>
          </a:p>
          <a:p>
            <a:endParaRPr lang="en-US" b="1" dirty="0"/>
          </a:p>
          <a:p>
            <a:r>
              <a:rPr lang="en-US" dirty="0"/>
              <a:t>See </a:t>
            </a:r>
            <a:r>
              <a:rPr lang="en-US" u="sng" dirty="0"/>
              <a:t>Figure.</a:t>
            </a:r>
            <a:r>
              <a:rPr lang="en-US" dirty="0"/>
              <a:t> The attributes chosen reflect the information requirements for this iteration the simplified </a:t>
            </a:r>
            <a:r>
              <a:rPr lang="en-US" i="1" dirty="0"/>
              <a:t>Play Monopoly Game </a:t>
            </a:r>
            <a:r>
              <a:rPr lang="en-US" dirty="0"/>
              <a:t>scenario of this iteration. </a:t>
            </a:r>
          </a:p>
          <a:p>
            <a:r>
              <a:rPr lang="en-US" b="1" dirty="0"/>
              <a:t>For example:</a:t>
            </a:r>
          </a:p>
          <a:p>
            <a:r>
              <a:rPr lang="en-US" dirty="0"/>
              <a:t> </a:t>
            </a:r>
          </a:p>
          <a:p>
            <a:r>
              <a:rPr lang="en-US" i="1" dirty="0"/>
              <a:t>Die	      </a:t>
            </a:r>
            <a:r>
              <a:rPr lang="en-US" i="1" dirty="0" err="1"/>
              <a:t>faceValue</a:t>
            </a:r>
            <a:r>
              <a:rPr lang="en-US" i="1" dirty="0"/>
              <a:t> </a:t>
            </a:r>
            <a:r>
              <a:rPr lang="en-US" dirty="0"/>
              <a:t>After rolling the dice, needed to calculate the distance of a move.</a:t>
            </a:r>
          </a:p>
          <a:p>
            <a:r>
              <a:rPr lang="en-US" i="1" dirty="0"/>
              <a:t>Square        name </a:t>
            </a:r>
            <a:r>
              <a:rPr lang="en-US" dirty="0"/>
              <a:t>To print the desired trace output.</a:t>
            </a:r>
          </a:p>
          <a:p>
            <a:r>
              <a:rPr lang="en-US" dirty="0"/>
              <a:t> </a:t>
            </a:r>
          </a:p>
        </p:txBody>
      </p:sp>
    </p:spTree>
    <p:extLst>
      <p:ext uri="{BB962C8B-B14F-4D97-AF65-F5344CB8AC3E}">
        <p14:creationId xmlns:p14="http://schemas.microsoft.com/office/powerpoint/2010/main" val="16216270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10000"/>
                  </a:schemeClr>
                </a:solidFill>
              </a:rPr>
              <a:t>Conclusion</a:t>
            </a:r>
          </a:p>
        </p:txBody>
      </p:sp>
      <p:sp>
        <p:nvSpPr>
          <p:cNvPr id="3" name="Content Placeholder 2"/>
          <p:cNvSpPr>
            <a:spLocks noGrp="1"/>
          </p:cNvSpPr>
          <p:nvPr>
            <p:ph sz="quarter" idx="10"/>
          </p:nvPr>
        </p:nvSpPr>
        <p:spPr/>
        <p:txBody>
          <a:bodyPr/>
          <a:lstStyle/>
          <a:p>
            <a:r>
              <a:rPr lang="en-US" dirty="0"/>
              <a:t>No single correct domain model </a:t>
            </a:r>
          </a:p>
          <a:p>
            <a:r>
              <a:rPr lang="en-US" dirty="0"/>
              <a:t>It is a simple representation of reality </a:t>
            </a:r>
          </a:p>
          <a:p>
            <a:r>
              <a:rPr lang="en-US" dirty="0"/>
              <a:t>Used to understand the system </a:t>
            </a:r>
          </a:p>
          <a:p>
            <a:r>
              <a:rPr lang="en-US" dirty="0"/>
              <a:t>Helps communication </a:t>
            </a:r>
          </a:p>
          <a:p>
            <a:r>
              <a:rPr lang="en-US" dirty="0"/>
              <a:t>Shows key concepts and relationships</a:t>
            </a:r>
          </a:p>
        </p:txBody>
      </p:sp>
      <p:sp>
        <p:nvSpPr>
          <p:cNvPr id="4" name="Slide Number Placeholder 3"/>
          <p:cNvSpPr>
            <a:spLocks noGrp="1"/>
          </p:cNvSpPr>
          <p:nvPr>
            <p:ph type="sldNum" sz="quarter" idx="4"/>
          </p:nvPr>
        </p:nvSpPr>
        <p:spPr/>
        <p:txBody>
          <a:bodyPr/>
          <a:lstStyle/>
          <a:p>
            <a:fld id="{58FB4751-880F-D840-AAA9-3A15815CC996}" type="slidenum">
              <a:rPr lang="en-US" smtClean="0"/>
              <a:pPr/>
              <a:t>43</a:t>
            </a:fld>
            <a:endParaRPr lang="en-US" dirty="0"/>
          </a:p>
        </p:txBody>
      </p:sp>
    </p:spTree>
    <p:extLst>
      <p:ext uri="{BB962C8B-B14F-4D97-AF65-F5344CB8AC3E}">
        <p14:creationId xmlns:p14="http://schemas.microsoft.com/office/powerpoint/2010/main" val="1956868392"/>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71af3243-3dd4-4a8d-8c0d-dd76da1f02a5"/>
    <ds:schemaRef ds:uri="http://purl.org/dc/elements/1.1/"/>
    <ds:schemaRef ds:uri="http://schemas.microsoft.com/office/2006/metadata/properties"/>
    <ds:schemaRef ds:uri="230e9df3-be65-4c73-a93b-d1236ebd677e"/>
    <ds:schemaRef ds:uri="http://schemas.microsoft.com/sharepoint/v3"/>
    <ds:schemaRef ds:uri="16c05727-aa75-4e4a-9b5f-8a80a1165891"/>
    <ds:schemaRef ds:uri="http://www.w3.org/XML/1998/namespace"/>
    <ds:schemaRef ds:uri="http://purl.org/dc/dcmityp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{D31A1F04-24C3-43F2-B484-C63088699D18}TF1ed9553b-00c4-4092-846a-c8f7f2908f3beecd942f_win32-8e33096c3cfc</Template>
  <TotalTime>468</TotalTime>
  <Words>2507</Words>
  <Application>Microsoft Office PowerPoint</Application>
  <PresentationFormat>Widescreen</PresentationFormat>
  <Paragraphs>295</Paragraphs>
  <Slides>43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 Black</vt:lpstr>
      <vt:lpstr>Calibri</vt:lpstr>
      <vt:lpstr>Courier New</vt:lpstr>
      <vt:lpstr>Gill Sans Nova Light</vt:lpstr>
      <vt:lpstr>Sagona Book</vt:lpstr>
      <vt:lpstr>Times New Roman</vt:lpstr>
      <vt:lpstr>Custom</vt:lpstr>
      <vt:lpstr>Team Members:  Hadia Tariq Nawal Najam Wardah Najam Saria Kanwal Arooj Shahid Eman Amjad</vt:lpstr>
      <vt:lpstr>DOMAIN MODEL</vt:lpstr>
      <vt:lpstr>What is a Domain? “A domain is the area or field for which a system is developed.” Domain = what the system is about Examples: Banking system → domain is banking  Hospital system → domain is healthcare  Shopping website → domain is online shopping  What is a Model? “A model is a simplified representation of a real-world system or concept.” Model = a simple version of something real Examples: A map → model of a city  A diagram → model of a system  A blueprint → model of a building </vt:lpstr>
      <vt:lpstr>SIMPLE DEFINITION:</vt:lpstr>
      <vt:lpstr>EXAMPLES:</vt:lpstr>
      <vt:lpstr>Sample Up Artifact Influence</vt:lpstr>
      <vt:lpstr> What Domain Model SHOWS: Real-world objects (Sale, Payment)  Their relationships  Their basic data (date, price)    What Domain Model DOES NOT SHOW: Software code  Methods/functions  Programming classes   </vt:lpstr>
      <vt:lpstr>PowerPoint Presentation</vt:lpstr>
      <vt:lpstr>Why We Use Domain Model?  </vt:lpstr>
      <vt:lpstr>Why called a domain model a visual dictionary?</vt:lpstr>
      <vt:lpstr>Domain model does not shows software artifacts and classes</vt:lpstr>
      <vt:lpstr>Partial Domain Model A Visual Dictionary</vt:lpstr>
      <vt:lpstr>HOW TO CREATE A DOMAIN MODEL </vt:lpstr>
      <vt:lpstr>WHAT IS A CONCEPTUAL CLASS?  A real-world "thing" that is important to your system.  Examples from a Store System: Item, Sale, Payment, Store, Register.    </vt:lpstr>
      <vt:lpstr>Strategies to Find Conceptual Classes:</vt:lpstr>
      <vt:lpstr>NOUN PHRASE EXAMPLE:</vt:lpstr>
      <vt:lpstr>Method 2: Category List </vt:lpstr>
      <vt:lpstr>Most Important Categories to Check:</vt:lpstr>
      <vt:lpstr>Method 3: Noun Phrase Identification:</vt:lpstr>
      <vt:lpstr>Case Study: POS Domain Model (Iteration 1)</vt:lpstr>
      <vt:lpstr>Golden Rules to Remember</vt:lpstr>
      <vt:lpstr> Guidelines : Agile Modeling — Sketching a Class Diagram</vt:lpstr>
      <vt:lpstr>Why open sides?  So you can easily add new attributes and details later without redrawing the whole box! </vt:lpstr>
      <vt:lpstr>Should "Receipt" Be in the Domain Model?  Core Idea: Not every real-world term needs to be a class — think before adding.  Key Points: 1. Receipt = Duplicate Information Receipt only shows Sale + Payment data  it adds no new information, so it's a candidate for exclusion. 2. Reason to EXCLUDE Receipt  Any report that just repeats existing data does not deserve its own class in the domain model. 3. Reason to INCLUDE Receipt   Receipt has a special business role — it gives the customer the legal right to return items. </vt:lpstr>
      <vt:lpstr>Think like a Mapmaker ;Use Domain Model</vt:lpstr>
      <vt:lpstr>How to Model the Unreal World?</vt:lpstr>
      <vt:lpstr>A Common Mistake with Attributes vs. Classes</vt:lpstr>
      <vt:lpstr>Description Classes </vt:lpstr>
      <vt:lpstr>PowerPoint Presentation</vt:lpstr>
      <vt:lpstr>PowerPoint Presentation</vt:lpstr>
      <vt:lpstr>PowerPoint Presentation</vt:lpstr>
      <vt:lpstr>Associations</vt:lpstr>
      <vt:lpstr>Roles and Multiplicity</vt:lpstr>
      <vt:lpstr>Multiple Associations</vt:lpstr>
      <vt:lpstr>PowerPoint Presentation</vt:lpstr>
      <vt:lpstr>ATTRIBUTES</vt:lpstr>
      <vt:lpstr>PowerPoint Presentation</vt:lpstr>
      <vt:lpstr>Derived Attributes                      Attribute Types</vt:lpstr>
      <vt:lpstr>Associations vs Attributes</vt:lpstr>
      <vt:lpstr>Data Type Classes &amp; Guidelines</vt:lpstr>
      <vt:lpstr>PowerPoint Presentation</vt:lpstr>
      <vt:lpstr>Example: Attributes in the Domain Models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CREATE A DOMAIN MODEL</dc:title>
  <dc:creator>nawal najam</dc:creator>
  <cp:lastModifiedBy>nawal najam</cp:lastModifiedBy>
  <cp:revision>15</cp:revision>
  <dcterms:created xsi:type="dcterms:W3CDTF">2026-04-09T10:59:19Z</dcterms:created>
  <dcterms:modified xsi:type="dcterms:W3CDTF">2026-04-14T07:04:50Z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